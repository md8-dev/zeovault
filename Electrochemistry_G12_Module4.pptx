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4297680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ELECTROCHEMISTRY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C107"/>
                </a:solidFill>
              </a:rPr>
              <a:t>Grade 12 Chemistry  ·  Module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BFD8"/>
                </a:solidFill>
              </a:rPr>
              <a:t>Dr. Baya Education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Redox Reactions  ·  Galvanic Cells  ·  Electrolytic Cells  ·  Industrial Applications  ·  Corrosion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TOPICS COVERED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BFD8"/>
                </a:solidFill>
              </a:rPr>
              <a:t>01  Introduction to Electrochemistry</a:t>
            </a:r>
          </a:p>
          <a:p>
            <a:r>
              <a:rPr sz="1400">
                <a:solidFill>
                  <a:srgbClr val="FFFFFF"/>
                </a:solidFill>
              </a:rPr>
              <a:t>02  Oxidation Numbers &amp; Rules</a:t>
            </a:r>
          </a:p>
          <a:p>
            <a:r>
              <a:rPr sz="1400">
                <a:solidFill>
                  <a:srgbClr val="00BFD8"/>
                </a:solidFill>
              </a:rPr>
              <a:t>03  Redox Reactions</a:t>
            </a:r>
          </a:p>
          <a:p>
            <a:r>
              <a:rPr sz="1400">
                <a:solidFill>
                  <a:srgbClr val="FFFFFF"/>
                </a:solidFill>
              </a:rPr>
              <a:t>04  Balancing Redox Equations</a:t>
            </a:r>
          </a:p>
          <a:p>
            <a:r>
              <a:rPr sz="1400">
                <a:solidFill>
                  <a:srgbClr val="00BFD8"/>
                </a:solidFill>
              </a:rPr>
              <a:t>05  Electric Cells – Overview</a:t>
            </a:r>
          </a:p>
          <a:p>
            <a:r>
              <a:rPr sz="1400">
                <a:solidFill>
                  <a:srgbClr val="FFFFFF"/>
                </a:solidFill>
              </a:rPr>
              <a:t>06  Galvanic (Voltaic) Cell</a:t>
            </a:r>
          </a:p>
          <a:p>
            <a:r>
              <a:rPr sz="1400">
                <a:solidFill>
                  <a:srgbClr val="00BFD8"/>
                </a:solidFill>
              </a:rPr>
              <a:t>07  Daniell Cell &amp; Components</a:t>
            </a:r>
          </a:p>
          <a:p>
            <a:r>
              <a:rPr sz="1400">
                <a:solidFill>
                  <a:srgbClr val="FFFFFF"/>
                </a:solidFill>
              </a:rPr>
              <a:t>08  Cell Notation &amp; Representation</a:t>
            </a:r>
          </a:p>
          <a:p>
            <a:r>
              <a:rPr sz="1400">
                <a:solidFill>
                  <a:srgbClr val="00BFD8"/>
                </a:solidFill>
              </a:rPr>
              <a:t>09  Electromotive Force (EMF)</a:t>
            </a:r>
          </a:p>
          <a:p>
            <a:r>
              <a:rPr sz="1400">
                <a:solidFill>
                  <a:srgbClr val="FFFFFF"/>
                </a:solidFill>
              </a:rPr>
              <a:t>10  Standard Hydrogen Electrode</a:t>
            </a:r>
          </a:p>
          <a:p>
            <a:r>
              <a:rPr sz="1400">
                <a:solidFill>
                  <a:srgbClr val="00BFD8"/>
                </a:solidFill>
              </a:rPr>
              <a:t>11  Electrode Potentials</a:t>
            </a:r>
          </a:p>
          <a:p>
            <a:r>
              <a:rPr sz="1400">
                <a:solidFill>
                  <a:srgbClr val="FFFFFF"/>
                </a:solidFill>
              </a:rPr>
              <a:t>12  Spontaneity &amp; Free Energy</a:t>
            </a:r>
          </a:p>
          <a:p>
            <a:r>
              <a:rPr sz="1400">
                <a:solidFill>
                  <a:srgbClr val="00BFD8"/>
                </a:solidFill>
              </a:rPr>
              <a:t>13  Nernst Equation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9601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BFD8"/>
                </a:solidFill>
              </a:rPr>
              <a:t>14  Concentration Cells &amp; pH</a:t>
            </a:r>
          </a:p>
          <a:p>
            <a:r>
              <a:rPr sz="1400">
                <a:solidFill>
                  <a:srgbClr val="FFFFFF"/>
                </a:solidFill>
              </a:rPr>
              <a:t>15  Primary Batteries</a:t>
            </a:r>
          </a:p>
          <a:p>
            <a:r>
              <a:rPr sz="1400">
                <a:solidFill>
                  <a:srgbClr val="00BFD8"/>
                </a:solidFill>
              </a:rPr>
              <a:t>16  Secondary Batteries</a:t>
            </a:r>
          </a:p>
          <a:p>
            <a:r>
              <a:rPr sz="1400">
                <a:solidFill>
                  <a:srgbClr val="FFFFFF"/>
                </a:solidFill>
              </a:rPr>
              <a:t>17  Electrolytic Cell – Basics</a:t>
            </a:r>
          </a:p>
          <a:p>
            <a:r>
              <a:rPr sz="1400">
                <a:solidFill>
                  <a:srgbClr val="00BFD8"/>
                </a:solidFill>
              </a:rPr>
              <a:t>18  Electrolysis of NaCl &amp; Water</a:t>
            </a:r>
          </a:p>
          <a:p>
            <a:r>
              <a:rPr sz="1400">
                <a:solidFill>
                  <a:srgbClr val="FFFFFF"/>
                </a:solidFill>
              </a:rPr>
              <a:t>19  Faraday's Laws of Electrolysis</a:t>
            </a:r>
          </a:p>
          <a:p>
            <a:r>
              <a:rPr sz="1400">
                <a:solidFill>
                  <a:srgbClr val="00BFD8"/>
                </a:solidFill>
              </a:rPr>
              <a:t>20  Corrosion – Process</a:t>
            </a:r>
          </a:p>
          <a:p>
            <a:r>
              <a:rPr sz="1400">
                <a:solidFill>
                  <a:srgbClr val="FFFFFF"/>
                </a:solidFill>
              </a:rPr>
              <a:t>21  Corrosion Prevention</a:t>
            </a:r>
          </a:p>
          <a:p>
            <a:r>
              <a:rPr sz="1400">
                <a:solidFill>
                  <a:srgbClr val="00BFD8"/>
                </a:solidFill>
              </a:rPr>
              <a:t>22  Industrial: Aluminum Production</a:t>
            </a:r>
          </a:p>
          <a:p>
            <a:r>
              <a:rPr sz="1400">
                <a:solidFill>
                  <a:srgbClr val="FFFFFF"/>
                </a:solidFill>
              </a:rPr>
              <a:t>23  Electroplating &amp; Electrorefining</a:t>
            </a:r>
          </a:p>
          <a:p>
            <a:r>
              <a:rPr sz="1400">
                <a:solidFill>
                  <a:srgbClr val="00BFD8"/>
                </a:solidFill>
              </a:rPr>
              <a:t>24  Galvanic vs Electrolytic</a:t>
            </a:r>
          </a:p>
          <a:p>
            <a:r>
              <a:rPr sz="1400">
                <a:solidFill>
                  <a:srgbClr val="FFFFFF"/>
                </a:solidFill>
              </a:rPr>
              <a:t>25  Key Formulas &amp;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WHAT IS ELECTROCHEMISTRY?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71323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Branch of chemistry studying the relationship between electrical energy and chemical reactions.</a:t>
            </a:r>
          </a:p>
          <a:p>
            <a:r>
              <a:rPr sz="1500">
                <a:solidFill>
                  <a:srgbClr val="FFFFFF"/>
                </a:solidFill>
              </a:rPr>
              <a:t/>
            </a:r>
          </a:p>
          <a:p>
            <a:r>
              <a:rPr sz="1500">
                <a:solidFill>
                  <a:srgbClr val="FFFFFF"/>
                </a:solidFill>
              </a:rPr>
              <a:t>Involves Redox (Oxidation-Reduction) reactions that transfer electrons between species.</a:t>
            </a:r>
          </a:p>
          <a:p>
            <a:r>
              <a:rPr sz="1500">
                <a:solidFill>
                  <a:srgbClr val="FFFFFF"/>
                </a:solidFill>
              </a:rPr>
              <a:t/>
            </a:r>
          </a:p>
          <a:p>
            <a:r>
              <a:rPr sz="1500">
                <a:solidFill>
                  <a:srgbClr val="FFC107"/>
                </a:solidFill>
              </a:rPr>
              <a:t>TWO MAIN TYPES OF ELECTROCHEMICAL CELLS:</a:t>
            </a:r>
          </a:p>
          <a:p>
            <a:r>
              <a:rPr sz="1500">
                <a:solidFill>
                  <a:srgbClr val="00BFD8"/>
                </a:solidFill>
              </a:rPr>
              <a:t>  ⚡ Galvanic Cell  –  converts Chemical Energy → Electrical Energy (spontaneous)</a:t>
            </a:r>
          </a:p>
          <a:p>
            <a:r>
              <a:rPr sz="1500">
                <a:solidFill>
                  <a:srgbClr val="00BFD8"/>
                </a:solidFill>
              </a:rPr>
              <a:t>  🔌 Electrolytic Cell  –  converts Electrical Energy → Chemical Energy (non-spontaneous)</a:t>
            </a:r>
          </a:p>
          <a:p>
            <a:r>
              <a:rPr sz="1500">
                <a:solidFill>
                  <a:srgbClr val="FFFFFF"/>
                </a:solidFill>
              </a:rPr>
              <a:t/>
            </a:r>
          </a:p>
          <a:p>
            <a:r>
              <a:rPr sz="1500">
                <a:solidFill>
                  <a:srgbClr val="FFC107"/>
                </a:solidFill>
              </a:rPr>
              <a:t>KEY APPLICATIONS:</a:t>
            </a:r>
          </a:p>
          <a:p>
            <a:r>
              <a:rPr sz="1500">
                <a:solidFill>
                  <a:srgbClr val="FFFFFF"/>
                </a:solidFill>
              </a:rPr>
              <a:t>  ➤ Batteries &amp; fuel cells</a:t>
            </a:r>
          </a:p>
          <a:p>
            <a:r>
              <a:rPr sz="1500">
                <a:solidFill>
                  <a:srgbClr val="FFFFFF"/>
                </a:solidFill>
              </a:rPr>
              <a:t>  ➤ Electroplating &amp; metal refining</a:t>
            </a:r>
          </a:p>
          <a:p>
            <a:r>
              <a:rPr sz="1500">
                <a:solidFill>
                  <a:srgbClr val="FFFFFF"/>
                </a:solidFill>
              </a:rPr>
              <a:t>  ➤ Corrosion prevention</a:t>
            </a:r>
          </a:p>
          <a:p>
            <a:r>
              <a:rPr sz="1500">
                <a:solidFill>
                  <a:srgbClr val="FFFFFF"/>
                </a:solidFill>
              </a:rPr>
              <a:t>  ➤ Industrial production (Al, Cl₂, NaOH)</a:t>
            </a:r>
          </a:p>
        </p:txBody>
      </p:sp>
      <p:pic>
        <p:nvPicPr>
          <p:cNvPr id="7" name="Picture 6" descr="page4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05840"/>
            <a:ext cx="42976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OXIDATION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7315200" cy="548640"/>
          </a:xfrm>
          <a:prstGeom prst="rect">
            <a:avLst/>
          </a:prstGeom>
          <a:solidFill>
            <a:srgbClr val="0D47A1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</a:rPr>
              <a:t>DEFINITION: Hypothetical charges assigned assuming electrons go to the more electronegative atom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C107"/>
                </a:solidFill>
              </a:rPr>
              <a:t>RULES FOR ASSIGNING OXIDATION NUMBERS:</a:t>
            </a:r>
          </a:p>
          <a:p>
            <a:r>
              <a:rPr sz="1400">
                <a:solidFill>
                  <a:srgbClr val="FFFFFF"/>
                </a:solidFill>
              </a:rPr>
              <a:t>• Pure elements (O₂, Fe, Zn)  →  Oxidation number = 0</a:t>
            </a:r>
          </a:p>
          <a:p>
            <a:r>
              <a:rPr sz="1400">
                <a:solidFill>
                  <a:srgbClr val="FFFFFF"/>
                </a:solidFill>
              </a:rPr>
              <a:t>• Monoatomic ions (Na⁺, Cl⁻)  →  Oxidation number = ion charge</a:t>
            </a:r>
          </a:p>
          <a:p>
            <a:r>
              <a:rPr sz="1400">
                <a:solidFill>
                  <a:srgbClr val="FFFFFF"/>
                </a:solidFill>
              </a:rPr>
              <a:t>• Hydrogen  →  usually +1  |  EXCEPTION: –1 in metal hydrides (NaH)</a:t>
            </a:r>
          </a:p>
          <a:p>
            <a:r>
              <a:rPr sz="1400">
                <a:solidFill>
                  <a:srgbClr val="FFFFFF"/>
                </a:solidFill>
              </a:rPr>
              <a:t>• Oxygen  →  usually –2  |  EXCEPTION: –1 in peroxides (H₂O₂), +2 in OF₂</a:t>
            </a:r>
          </a:p>
          <a:p>
            <a:r>
              <a:rPr sz="1400">
                <a:solidFill>
                  <a:srgbClr val="FFFFFF"/>
                </a:solidFill>
              </a:rPr>
              <a:t>• Neutral compounds  →  sum of all oxidation numbers = 0</a:t>
            </a:r>
          </a:p>
          <a:p>
            <a:r>
              <a:rPr sz="1400">
                <a:solidFill>
                  <a:srgbClr val="FFFFFF"/>
                </a:solidFill>
              </a:rPr>
              <a:t>• Polyatomic ions  →  sum of oxidation numbers = overall ion charge</a:t>
            </a:r>
          </a:p>
          <a:p>
            <a:r>
              <a:rPr sz="1400">
                <a:solidFill>
                  <a:srgbClr val="FFFFFF"/>
                </a:solidFill>
              </a:rPr>
              <a:t>• Transition metals  →  may have multiple valid oxidation states</a:t>
            </a:r>
          </a:p>
          <a:p>
            <a:r>
              <a:rPr sz="1400">
                <a:solidFill>
                  <a:srgbClr val="FFFFFF"/>
                </a:solidFill>
              </a:rPr>
              <a:t/>
            </a:r>
          </a:p>
          <a:p>
            <a:r>
              <a:rPr sz="1400">
                <a:solidFill>
                  <a:srgbClr val="FFC107"/>
                </a:solidFill>
              </a:rPr>
              <a:t>EXAMPLE – Water (H₂O):</a:t>
            </a:r>
          </a:p>
          <a:p>
            <a:r>
              <a:rPr sz="1400">
                <a:solidFill>
                  <a:srgbClr val="00BFD8"/>
                </a:solidFill>
              </a:rPr>
              <a:t>  Oxygen (O)  =  –2     |     Hydrogen (H)  =  +1     |     Sum = 0 ✓</a:t>
            </a:r>
          </a:p>
          <a:p>
            <a:r>
              <a:rPr sz="1400">
                <a:solidFill>
                  <a:srgbClr val="FFFFFF"/>
                </a:solidFill>
              </a:rPr>
              <a:t/>
            </a:r>
          </a:p>
          <a:p>
            <a:r>
              <a:rPr sz="1400">
                <a:solidFill>
                  <a:srgbClr val="FFC107"/>
                </a:solidFill>
              </a:rPr>
              <a:t>EXAMPLE – Fe₃O₄ (Magnetite):</a:t>
            </a:r>
          </a:p>
          <a:p>
            <a:r>
              <a:rPr sz="1400">
                <a:solidFill>
                  <a:srgbClr val="00BFD8"/>
                </a:solidFill>
              </a:rPr>
              <a:t>  3x + 4(–2) = 0  →  x = +8/3  (fractional oxidation state, mixture of Fe²⁺ and Fe³⁺)</a:t>
            </a:r>
          </a:p>
        </p:txBody>
      </p:sp>
      <p:pic>
        <p:nvPicPr>
          <p:cNvPr id="9" name="Picture 8" descr="page5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005840"/>
            <a:ext cx="38404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REDOX REACTIONS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5394960" cy="2377440"/>
          </a:xfrm>
          <a:prstGeom prst="rect">
            <a:avLst/>
          </a:prstGeom>
          <a:solidFill>
            <a:srgbClr val="5D0000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960120"/>
            <a:ext cx="5394960" cy="2377440"/>
          </a:xfrm>
          <a:prstGeom prst="rect">
            <a:avLst/>
          </a:prstGeom>
          <a:solidFill>
            <a:srgbClr val="003D0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44336"/>
                </a:solidFill>
              </a:rPr>
              <a:t>OXIDATION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• Loss of electrons</a:t>
            </a:r>
          </a:p>
          <a:p>
            <a:r>
              <a:rPr sz="1500">
                <a:solidFill>
                  <a:srgbClr val="FFFFFF"/>
                </a:solidFill>
              </a:rPr>
              <a:t>• Increase in oxidation number</a:t>
            </a:r>
          </a:p>
          <a:p>
            <a:r>
              <a:rPr sz="1500">
                <a:solidFill>
                  <a:srgbClr val="FFFFFF"/>
                </a:solidFill>
              </a:rPr>
              <a:t>• Occurs at the ANODE</a:t>
            </a:r>
          </a:p>
          <a:p>
            <a:r>
              <a:rPr sz="1500">
                <a:solidFill>
                  <a:srgbClr val="FFFFFF"/>
                </a:solidFill>
              </a:rPr>
              <a:t>• Example:  Zn  →  Zn²⁺ + 2e⁻</a:t>
            </a:r>
          </a:p>
          <a:p>
            <a:r>
              <a:rPr sz="1500">
                <a:solidFill>
                  <a:srgbClr val="FFFFFF"/>
                </a:solidFill>
              </a:rPr>
              <a:t>• Agent: REDUCING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005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CAF50"/>
                </a:solidFill>
              </a:rPr>
              <a:t>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50876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• Gain of electrons</a:t>
            </a:r>
          </a:p>
          <a:p>
            <a:r>
              <a:rPr sz="1500">
                <a:solidFill>
                  <a:srgbClr val="FFFFFF"/>
                </a:solidFill>
              </a:rPr>
              <a:t>• Decrease in oxidation number</a:t>
            </a:r>
          </a:p>
          <a:p>
            <a:r>
              <a:rPr sz="1500">
                <a:solidFill>
                  <a:srgbClr val="FFFFFF"/>
                </a:solidFill>
              </a:rPr>
              <a:t>• Occurs at the CATHODE</a:t>
            </a:r>
          </a:p>
          <a:p>
            <a:r>
              <a:rPr sz="1500">
                <a:solidFill>
                  <a:srgbClr val="FFFFFF"/>
                </a:solidFill>
              </a:rPr>
              <a:t>• Example:  Cu²⁺ + 2e⁻  →  Cu</a:t>
            </a:r>
          </a:p>
          <a:p>
            <a:r>
              <a:rPr sz="1500">
                <a:solidFill>
                  <a:srgbClr val="FFFFFF"/>
                </a:solidFill>
              </a:rPr>
              <a:t>• Agent: OXIDIZING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6459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C107"/>
                </a:solidFill>
              </a:rPr>
              <a:t>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377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C107"/>
                </a:solidFill>
              </a:rPr>
              <a:t>Simultaneous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429000"/>
            <a:ext cx="11612880" cy="685800"/>
          </a:xfrm>
          <a:prstGeom prst="rect">
            <a:avLst/>
          </a:prstGeom>
          <a:solidFill>
            <a:srgbClr val="0D47A1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747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OVERALL:  Zn(s) + Cu²⁺(aq)  →  Zn²⁺(aq) + Cu(s)     EMF = +1.10 V  ✓  Spontaneous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06240"/>
            <a:ext cx="7772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C107"/>
                </a:solidFill>
              </a:rPr>
              <a:t>OIL RIG Memory Aid:  Oxidation Is Loss  |  Reduction Is Gain</a:t>
            </a:r>
          </a:p>
          <a:p>
            <a:r>
              <a:rPr sz="1400">
                <a:solidFill>
                  <a:srgbClr val="FFFFFF"/>
                </a:solidFill>
              </a:rPr>
              <a:t>• Electrons transferred from REDUCING AGENT (Zn) to OXIDIZING AGENT (Cu²⁺)</a:t>
            </a:r>
          </a:p>
          <a:p>
            <a:r>
              <a:rPr sz="1400">
                <a:solidFill>
                  <a:srgbClr val="FFFFFF"/>
                </a:solidFill>
              </a:rPr>
              <a:t>• Electrons lost at anode in oxidation = Electrons gained at cathode in reduction</a:t>
            </a:r>
          </a:p>
          <a:p>
            <a:r>
              <a:rPr sz="1400">
                <a:solidFill>
                  <a:srgbClr val="FFFFFF"/>
                </a:solidFill>
              </a:rPr>
              <a:t>• Half-reaction method: Write each process separately, balance e⁻, then combine</a:t>
            </a:r>
          </a:p>
        </p:txBody>
      </p:sp>
      <p:pic>
        <p:nvPicPr>
          <p:cNvPr id="17" name="Picture 16" descr="page8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6052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</a:rPr>
              <a:t>TYPES OF ELECTROCHEMICAL CELLS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5440680" cy="4663440"/>
          </a:xfrm>
          <a:prstGeom prst="rect">
            <a:avLst/>
          </a:prstGeom>
          <a:solidFill>
            <a:srgbClr val="0D2D5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3952" y="960120"/>
            <a:ext cx="5440680" cy="4663440"/>
          </a:xfrm>
          <a:prstGeom prst="rect">
            <a:avLst/>
          </a:prstGeom>
          <a:solidFill>
            <a:srgbClr val="1A237E"/>
          </a:solidFill>
          <a:ln>
            <a:solidFill>
              <a:srgbClr val="00B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C107"/>
                </a:solidFill>
              </a:rPr>
              <a:t>⚡ GALVANIC 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BFD8"/>
                </a:solidFill>
              </a:rPr>
              <a:t>(Voltaic / Daniel Cell)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FFFFF"/>
                </a:solidFill>
              </a:rPr>
              <a:t>• Chemical  →  Electrical Energy</a:t>
            </a:r>
          </a:p>
          <a:p>
            <a:r>
              <a:rPr sz="1450">
                <a:solidFill>
                  <a:srgbClr val="FFFFFF"/>
                </a:solidFill>
              </a:rPr>
              <a:t>• SPONTANEOUS reaction (E° &gt; 0)</a:t>
            </a:r>
          </a:p>
          <a:p>
            <a:r>
              <a:rPr sz="1450">
                <a:solidFill>
                  <a:srgbClr val="FFFFFF"/>
                </a:solidFill>
              </a:rPr>
              <a:t>• Anode = negative electrode (–)</a:t>
            </a:r>
          </a:p>
          <a:p>
            <a:r>
              <a:rPr sz="1450">
                <a:solidFill>
                  <a:srgbClr val="FFFFFF"/>
                </a:solidFill>
              </a:rPr>
              <a:t>• Cathode = positive electrode (+)</a:t>
            </a:r>
          </a:p>
          <a:p>
            <a:r>
              <a:rPr sz="1450">
                <a:solidFill>
                  <a:srgbClr val="FFFFFF"/>
                </a:solidFill>
              </a:rPr>
              <a:t>• No external power supply needed</a:t>
            </a:r>
          </a:p>
          <a:p>
            <a:r>
              <a:rPr sz="1450">
                <a:solidFill>
                  <a:srgbClr val="FFFFFF"/>
                </a:solidFill>
              </a:rPr>
              <a:t>• Electrons: Anode → Cathode</a:t>
            </a:r>
          </a:p>
          <a:p>
            <a:r>
              <a:rPr sz="1450">
                <a:solidFill>
                  <a:srgbClr val="FFFFFF"/>
                </a:solidFill>
              </a:rPr>
              <a:t>• Example: All batteries</a:t>
            </a:r>
          </a:p>
        </p:txBody>
      </p:sp>
      <p:pic>
        <p:nvPicPr>
          <p:cNvPr id="11" name="Picture 10" descr="page12_img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0"/>
            <a:ext cx="4937760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75120" y="1005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0BFD8"/>
                </a:solidFill>
              </a:rPr>
              <a:t>🔌 ELECTROLYTIC CELL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813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C107"/>
                </a:solidFill>
              </a:rPr>
              <a:t>(Electrolysis Cell)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874519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FFFFFF"/>
                </a:solidFill>
              </a:rPr>
              <a:t>• Electrical  →  Chemical Energy</a:t>
            </a:r>
          </a:p>
          <a:p>
            <a:r>
              <a:rPr sz="1450">
                <a:solidFill>
                  <a:srgbClr val="FFFFFF"/>
                </a:solidFill>
              </a:rPr>
              <a:t>• NON-SPONTANEOUS (E° &lt; 0)</a:t>
            </a:r>
          </a:p>
          <a:p>
            <a:r>
              <a:rPr sz="1450">
                <a:solidFill>
                  <a:srgbClr val="FFFFFF"/>
                </a:solidFill>
              </a:rPr>
              <a:t>• Anode = positive electrode (+)</a:t>
            </a:r>
          </a:p>
          <a:p>
            <a:r>
              <a:rPr sz="1450">
                <a:solidFill>
                  <a:srgbClr val="FFFFFF"/>
                </a:solidFill>
              </a:rPr>
              <a:t>• Cathode = negative electrode (–)</a:t>
            </a:r>
          </a:p>
          <a:p>
            <a:r>
              <a:rPr sz="1450">
                <a:solidFill>
                  <a:srgbClr val="FFFFFF"/>
                </a:solidFill>
              </a:rPr>
              <a:t>• Requires external power source</a:t>
            </a:r>
          </a:p>
          <a:p>
            <a:r>
              <a:rPr sz="1450">
                <a:solidFill>
                  <a:srgbClr val="FFFFFF"/>
                </a:solidFill>
              </a:rPr>
              <a:t>• Follows Faraday's Laws</a:t>
            </a:r>
          </a:p>
          <a:p>
            <a:r>
              <a:rPr sz="1450">
                <a:solidFill>
                  <a:srgbClr val="FFFFFF"/>
                </a:solidFill>
              </a:rPr>
              <a:t>• Example: Electroplating, electrolysis</a:t>
            </a:r>
          </a:p>
        </p:txBody>
      </p:sp>
      <p:pic>
        <p:nvPicPr>
          <p:cNvPr id="15" name="Picture 14" descr="page47_img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657600"/>
            <a:ext cx="5029200" cy="1828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0" y="28346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C107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</a:rPr>
              <a:t>GALVANIC CELL – KEY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ge13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5486400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35040" y="1005840"/>
            <a:ext cx="5943600" cy="749808"/>
          </a:xfrm>
          <a:prstGeom prst="rect">
            <a:avLst/>
          </a:prstGeom>
          <a:solidFill>
            <a:srgbClr val="0D1F4A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4241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44336"/>
                </a:solidFill>
              </a:rPr>
              <a:t>ANODE (–)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042416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Oxidation site. Metal dissolves, releasing electrons.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828800"/>
            <a:ext cx="5943600" cy="749808"/>
          </a:xfrm>
          <a:prstGeom prst="rect">
            <a:avLst/>
          </a:prstGeom>
          <a:solidFill>
            <a:srgbClr val="0D1F4A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86537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4CAF50"/>
                </a:solidFill>
              </a:rPr>
              <a:t>CATHODE (+)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865376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Reduction site. Accepts electrons, metal deposits.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651760"/>
            <a:ext cx="5943600" cy="749808"/>
          </a:xfrm>
          <a:prstGeom prst="rect">
            <a:avLst/>
          </a:prstGeom>
          <a:solidFill>
            <a:srgbClr val="0D1F4A"/>
          </a:solidFill>
          <a:ln>
            <a:solidFill>
              <a:srgbClr val="00B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68833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BFD8"/>
                </a:solidFill>
              </a:rPr>
              <a:t>ELECTROLYTE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688336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Ion-conducting medium (e.g., ZnSO₄, CuSO₄ solution)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3474720"/>
            <a:ext cx="5943600" cy="749808"/>
          </a:xfrm>
          <a:prstGeom prst="rect">
            <a:avLst/>
          </a:prstGeom>
          <a:solidFill>
            <a:srgbClr val="0D1F4A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51129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C107"/>
                </a:solidFill>
              </a:rPr>
              <a:t>SALT BRIDGE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511296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Maintains electrical neutrality by allowing ion flow between half-cells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4297680"/>
            <a:ext cx="5943600" cy="749808"/>
          </a:xfrm>
          <a:prstGeom prst="rect">
            <a:avLst/>
          </a:prstGeom>
          <a:solidFill>
            <a:srgbClr val="0D1F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433425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</a:rPr>
              <a:t>POROUS DISK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334256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Alternative to salt bridge; tiny passages allow controlled ion 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5120640"/>
            <a:ext cx="5943600" cy="74980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515721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196F3"/>
                </a:solidFill>
              </a:rPr>
              <a:t>EXTERNAL WIRE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5157216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Conducts electrons from anode → cathode (external circuit)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THE DANIELL CELL  (Zn / Cu)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ge15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5669280" cy="4754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26480" y="1005840"/>
            <a:ext cx="5760720" cy="54864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042416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107"/>
                </a:solidFill>
              </a:rPr>
              <a:t>INVENTED: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042416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1836 by John Frederic Daniell (British chemist)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09344"/>
            <a:ext cx="5760720" cy="54864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4592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107"/>
                </a:solidFill>
              </a:rPr>
              <a:t>ANODE (Zn):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Zn(s) → Zn²⁺(aq) + 2e⁻   [OXIDATION – Zn dissolves]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212848"/>
            <a:ext cx="5760720" cy="54864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249424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107"/>
                </a:solidFill>
              </a:rPr>
              <a:t>CATHODE (Cu):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249424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Cu²⁺(aq) + 2e⁻ → Cu(s)   [REDUCTION – Cu deposits]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816352"/>
            <a:ext cx="5760720" cy="54864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85292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107"/>
                </a:solidFill>
              </a:rPr>
              <a:t>OVERALL: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852928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Zn(s) + Cu²⁺(aq)  →  Zn²⁺(aq) + Cu(s)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419856"/>
            <a:ext cx="5760720" cy="54864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45643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107"/>
                </a:solidFill>
              </a:rPr>
              <a:t>EMF: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456432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E°cell = E°Cu – E°Zn = 0.34 – (–0.76) = +1.10 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023360"/>
            <a:ext cx="5760720" cy="54864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059936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107"/>
                </a:solidFill>
              </a:rPr>
              <a:t>ELECTRON FLOW: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059936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Zn (anode) → external wire → Cu (cathode)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626864"/>
            <a:ext cx="5760720" cy="54864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466344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107"/>
                </a:solidFill>
              </a:rPr>
              <a:t>ION FLOW: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66344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Maintained by porous barrier or salt bridge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5230368"/>
            <a:ext cx="5760720" cy="54864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5266944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107"/>
                </a:solidFill>
              </a:rPr>
              <a:t>ELECTROLYTES: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266944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ZnSO₄ solution  |  CuSO₄ solution</a:t>
            </a:r>
          </a:p>
        </p:txBody>
      </p:sp>
      <p:pic>
        <p:nvPicPr>
          <p:cNvPr id="31" name="Picture 30" descr="page15_img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5852160"/>
            <a:ext cx="57607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CELL NOTATION &amp; SALT BRIDGE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C107"/>
                </a:solidFill>
              </a:rPr>
              <a:t>SALT BRIDGE vs. POROUS DISK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011680" cy="384048"/>
          </a:xfrm>
          <a:prstGeom prst="rect">
            <a:avLst/>
          </a:prstGeom>
          <a:solidFill>
            <a:srgbClr val="0D47A1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4475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107"/>
                </a:solidFill>
              </a:rP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417320"/>
            <a:ext cx="2286000" cy="384048"/>
          </a:xfrm>
          <a:prstGeom prst="rect">
            <a:avLst/>
          </a:prstGeom>
          <a:solidFill>
            <a:srgbClr val="0D47A1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44475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107"/>
                </a:solidFill>
              </a:rPr>
              <a:t>Salt Bridge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417320"/>
            <a:ext cx="2286000" cy="384048"/>
          </a:xfrm>
          <a:prstGeom prst="rect">
            <a:avLst/>
          </a:prstGeom>
          <a:solidFill>
            <a:srgbClr val="0D47A1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44475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107"/>
                </a:solidFill>
              </a:rPr>
              <a:t>Porous Disk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19656"/>
            <a:ext cx="2011680" cy="38404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84708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Composition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1819656"/>
            <a:ext cx="2286000" cy="38404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184708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Strong electrolyte in gel matrix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819656"/>
            <a:ext cx="2286000" cy="38404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184708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Tiny passages in solid 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21992"/>
            <a:ext cx="2011680" cy="38404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24942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Function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3160" y="2221992"/>
            <a:ext cx="2286000" cy="38404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0" y="224942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Allows ion flow, minimal mixing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2221992"/>
            <a:ext cx="2286000" cy="38404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224942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Controlled, selective ion flow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624328"/>
            <a:ext cx="2011680" cy="38404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6517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23160" y="2624328"/>
            <a:ext cx="2286000" cy="38404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0" y="265176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Maintains electrical neutrality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2624328"/>
            <a:ext cx="2286000" cy="38404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600" y="265176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Maintains electrical neutrality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3832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C107"/>
                </a:solidFill>
              </a:rPr>
              <a:t>GALVANIC CELL NOTATION FORMAT: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794760"/>
            <a:ext cx="7772400" cy="594360"/>
          </a:xfrm>
          <a:prstGeom prst="rect">
            <a:avLst/>
          </a:prstGeom>
          <a:solidFill>
            <a:srgbClr val="0D47A1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84048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Anode  |  Anode solution (conc.)  ‖  Cathode solution (conc.)  |  Cathode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FD8"/>
                </a:solidFill>
              </a:rPr>
              <a:t>DANIELL CELL: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892040"/>
            <a:ext cx="7772400" cy="548640"/>
          </a:xfrm>
          <a:prstGeom prst="rect">
            <a:avLst/>
          </a:prstGeom>
          <a:solidFill>
            <a:srgbClr val="0D2D5E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9377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C107"/>
                </a:solidFill>
              </a:rPr>
              <a:t>Zn(s)  |  Zn²⁺(aq)  ‖  Cu²⁺(aq)  |  Cu(s)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5321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00BFD8"/>
                </a:solidFill>
              </a:rPr>
              <a:t>  |  =  Phase boundary (solid–electrolyte interface)</a:t>
            </a:r>
          </a:p>
          <a:p>
            <a:r>
              <a:rPr sz="1350">
                <a:solidFill>
                  <a:srgbClr val="00BFD8"/>
                </a:solidFill>
              </a:rPr>
              <a:t>  ‖  =  Salt bridge or porous barrier separating the two half-cells</a:t>
            </a:r>
          </a:p>
          <a:p>
            <a:r>
              <a:rPr sz="1350">
                <a:solidFill>
                  <a:srgbClr val="FFC107"/>
                </a:solidFill>
              </a:rPr>
              <a:t>  Anode always on the LEFT,  Cathode always on the RIGHT</a:t>
            </a:r>
          </a:p>
        </p:txBody>
      </p:sp>
      <p:pic>
        <p:nvPicPr>
          <p:cNvPr id="38" name="Picture 37" descr="page16_img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005840"/>
            <a:ext cx="3657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ELECTROMOTIVE FORCE (EMF)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394960" cy="1371600"/>
          </a:xfrm>
          <a:prstGeom prst="rect">
            <a:avLst/>
          </a:prstGeom>
          <a:solidFill>
            <a:srgbClr val="0D47A1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C107"/>
                </a:solidFill>
              </a:rPr>
              <a:t>EMF = E°cathode − E°anode
(Reduction Potential − Oxidation Potential)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231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C107"/>
                </a:solidFill>
              </a:rPr>
              <a:t>RULES OF EMF: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52928"/>
            <a:ext cx="6858000" cy="502920"/>
          </a:xfrm>
          <a:prstGeom prst="rect">
            <a:avLst/>
          </a:prstGeom>
          <a:solidFill>
            <a:srgbClr val="0D1F4A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8986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E°cell &gt; 0  (Positive)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89864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→ SPONTANEOUS reaction (e.g., galvanic cells)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10712"/>
            <a:ext cx="6858000" cy="502920"/>
          </a:xfrm>
          <a:prstGeom prst="rect">
            <a:avLst/>
          </a:prstGeom>
          <a:solidFill>
            <a:srgbClr val="0D1F4A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4564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4336"/>
                </a:solidFill>
              </a:rPr>
              <a:t>E°cell &lt; 0  (Negative)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45643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→ NON-SPONTANEOUS (e.g., electrolytic cells)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68496"/>
            <a:ext cx="6858000" cy="502920"/>
          </a:xfrm>
          <a:prstGeom prst="rect">
            <a:avLst/>
          </a:prstGeom>
          <a:solidFill>
            <a:srgbClr val="0D1F4A"/>
          </a:solidFill>
          <a:ln>
            <a:solidFill>
              <a:srgbClr val="00B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14215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FD8"/>
                </a:solidFill>
              </a:rPr>
              <a:t>Doubling concentration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014215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→ EMF stays CONSTANT (unchanged)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526280"/>
            <a:ext cx="6858000" cy="502920"/>
          </a:xfrm>
          <a:prstGeom prst="rect">
            <a:avLst/>
          </a:prstGeom>
          <a:solidFill>
            <a:srgbClr val="0D1F4A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72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</a:rPr>
              <a:t>Reversing the reaction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5720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→ Sign of EMF REVERSES (+ ↔ –)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66360"/>
            <a:ext cx="6858000" cy="1280160"/>
          </a:xfrm>
          <a:prstGeom prst="rect">
            <a:avLst/>
          </a:prstGeom>
          <a:solidFill>
            <a:srgbClr val="0D2D5E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1208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</a:rPr>
              <a:t>DANIELL CELL EMF CALCULATION: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2356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E°cathode (Cu²⁺/Cu) = +0.34 V</a:t>
            </a:r>
          </a:p>
          <a:p>
            <a:r>
              <a:rPr sz="1400">
                <a:solidFill>
                  <a:srgbClr val="FFFFFF"/>
                </a:solidFill>
              </a:rPr>
              <a:t>E°anode (Zn²⁺/Zn) = –0.76 V</a:t>
            </a:r>
          </a:p>
          <a:p>
            <a:r>
              <a:rPr sz="1400">
                <a:solidFill>
                  <a:srgbClr val="00BFD8"/>
                </a:solidFill>
              </a:rPr>
              <a:t>E°cell = 0.34 – (–0.76) = +1.10 V  ✓  Spontaneous!</a:t>
            </a:r>
          </a:p>
        </p:txBody>
      </p:sp>
      <p:pic>
        <p:nvPicPr>
          <p:cNvPr id="24" name="Picture 23" descr="page17_img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05840"/>
            <a:ext cx="42976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STANDARD HYDROGEN ELECTRODE (SHE)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ge19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5303520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60720" y="960120"/>
            <a:ext cx="6217920" cy="566928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99669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C107"/>
                </a:solidFill>
              </a:rPr>
              <a:t>DEFINITION: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99669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Reference electrode with assigned standard potential E° = 0 V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581912"/>
            <a:ext cx="6217920" cy="566928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161848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C107"/>
                </a:solidFill>
              </a:rPr>
              <a:t>ELECTRODE: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61848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Platinum sheet (1 cm²) coated with spongy black platinum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2203704"/>
            <a:ext cx="6217920" cy="566928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224028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C107"/>
                </a:solidFill>
              </a:rPr>
              <a:t>ELECTROLYTE: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2402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1 M H⁺ solution (usually HCl) at 25°C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2825496"/>
            <a:ext cx="6217920" cy="566928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286207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C107"/>
                </a:solidFill>
              </a:rPr>
              <a:t>GAS SUPPLY: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86207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H₂ gas bubbled at constant 1 atm pressure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3447288"/>
            <a:ext cx="6217920" cy="566928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3483864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C107"/>
                </a:solidFill>
              </a:rPr>
              <a:t>TEMPERATURE: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483864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Maintained at 25°C (298 K) – standard conditions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4069080"/>
            <a:ext cx="6217920" cy="566928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410565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C107"/>
                </a:solidFill>
              </a:rPr>
              <a:t>PURPOSE: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10565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Universal reference to measure electrode potentials of other half-cells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4690872"/>
            <a:ext cx="6217920" cy="566928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472744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C107"/>
                </a:solidFill>
              </a:rPr>
              <a:t>HALF-REACTION: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72744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2H⁺(aq) + 2e⁻  ⇌  H₂(g)     E° = 0.00 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5312664"/>
            <a:ext cx="6217920" cy="566928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97880" y="534924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C107"/>
                </a:solidFill>
              </a:rPr>
              <a:t>KEY FACT: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3492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Cannot measure absolute electrode potential — only difference between two electrodes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5943600"/>
            <a:ext cx="6217920" cy="640080"/>
          </a:xfrm>
          <a:prstGeom prst="rect">
            <a:avLst/>
          </a:prstGeom>
          <a:solidFill>
            <a:srgbClr val="0D47A1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97880" y="598932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C107"/>
                </a:solidFill>
              </a:rPr>
              <a:t>FACTORS ALTERING SHE: Temp ≠ 25°C  |  [H⁺] ≠ 1 M  |  P(H₂) ≠ 1 atm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</a:rPr>
              <a:t>ELECTRODE POTENTIALS &amp; ELECTROCHEMICAL SERIES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ge21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2926080" cy="2468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46120" y="960120"/>
            <a:ext cx="2743200" cy="2468880"/>
          </a:xfrm>
          <a:prstGeom prst="rect">
            <a:avLst/>
          </a:prstGeom>
          <a:solidFill>
            <a:srgbClr val="0D2D5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00584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Zn vs SHE
Voltmeter: 0.76 V
Zn = ANODE
E°(Zn) = −0.76 V
(Zn is oxidized)</a:t>
            </a:r>
          </a:p>
        </p:txBody>
      </p:sp>
      <p:pic>
        <p:nvPicPr>
          <p:cNvPr id="9" name="Picture 8" descr="page21_img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960120"/>
            <a:ext cx="2926080" cy="2468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052560" y="960120"/>
            <a:ext cx="2834640" cy="2468880"/>
          </a:xfrm>
          <a:prstGeom prst="rect">
            <a:avLst/>
          </a:prstGeom>
          <a:solidFill>
            <a:srgbClr val="0D2D5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005840"/>
            <a:ext cx="2606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Cu vs SHE
Voltmeter: 0.34 V
Cu = CATHODE
E°(Cu) = +0.34 V
(Cu is reduced)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5661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107"/>
                </a:solidFill>
              </a:rPr>
              <a:t>STANDARD REDUCTION POTENTIALS: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005072"/>
            <a:ext cx="11430000" cy="393192"/>
          </a:xfrm>
          <a:prstGeom prst="rect">
            <a:avLst/>
          </a:prstGeom>
          <a:solidFill>
            <a:srgbClr val="00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23359"/>
            <a:ext cx="4114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Li⁺ + e⁻ → 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023359"/>
            <a:ext cx="1371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FC107"/>
                </a:solidFill>
              </a:rPr>
              <a:t>–3.04 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023359"/>
            <a:ext cx="53035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44336"/>
                </a:solidFill>
              </a:rPr>
              <a:t>Strongest Reducing 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16552"/>
            <a:ext cx="11430000" cy="393192"/>
          </a:xfrm>
          <a:prstGeom prst="rect">
            <a:avLst/>
          </a:prstGeom>
          <a:solidFill>
            <a:srgbClr val="00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34840"/>
            <a:ext cx="4114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Zn²⁺ + 2e⁻ → Zn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434840"/>
            <a:ext cx="1371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FC107"/>
                </a:solidFill>
              </a:rPr>
              <a:t>–0.76 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434840"/>
            <a:ext cx="53035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8080"/>
                </a:solidFill>
              </a:rPr>
              <a:t>Above H₂ → tends to oxidize (Anode)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28032"/>
            <a:ext cx="11430000" cy="393192"/>
          </a:xfrm>
          <a:prstGeom prst="rect">
            <a:avLst/>
          </a:prstGeom>
          <a:solidFill>
            <a:srgbClr val="33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4114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2H⁺ + 2e⁻ → H₂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846320"/>
            <a:ext cx="1371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FC107"/>
                </a:solidFill>
              </a:rPr>
              <a:t>  0.00 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846320"/>
            <a:ext cx="53035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C107"/>
                </a:solidFill>
              </a:rPr>
              <a:t>Reference (SHE)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239512"/>
            <a:ext cx="11430000" cy="393192"/>
          </a:xfrm>
          <a:prstGeom prst="rect">
            <a:avLst/>
          </a:prstGeom>
          <a:solidFill>
            <a:srgbClr val="00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257800"/>
            <a:ext cx="4114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Cu²⁺ + 2e⁻ → Cu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257800"/>
            <a:ext cx="1371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FC107"/>
                </a:solidFill>
              </a:rPr>
              <a:t>+0.34 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257800"/>
            <a:ext cx="53035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0FF80"/>
                </a:solidFill>
              </a:rPr>
              <a:t>Below H₂ → tends to reduce (Cathode)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650992"/>
            <a:ext cx="11430000" cy="393192"/>
          </a:xfrm>
          <a:prstGeom prst="rect">
            <a:avLst/>
          </a:prstGeom>
          <a:solidFill>
            <a:srgbClr val="00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669280"/>
            <a:ext cx="4114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Ag⁺ + e⁻ → 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5669280"/>
            <a:ext cx="1371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FC107"/>
                </a:solidFill>
              </a:rPr>
              <a:t>+0.80 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669280"/>
            <a:ext cx="53035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CAF50"/>
                </a:solidFill>
              </a:rPr>
              <a:t>Strong oxidizing tendency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062472"/>
            <a:ext cx="11430000" cy="393192"/>
          </a:xfrm>
          <a:prstGeom prst="rect">
            <a:avLst/>
          </a:prstGeom>
          <a:solidFill>
            <a:srgbClr val="00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080760"/>
            <a:ext cx="4114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Au³⁺ + 3e⁻ → Au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080760"/>
            <a:ext cx="1371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FFC107"/>
                </a:solidFill>
              </a:rPr>
              <a:t>+1.50 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6080760"/>
            <a:ext cx="53035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BFD8"/>
                </a:solidFill>
              </a:rPr>
              <a:t>Strongest Oxidizing Agent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FREE ENERGY, SPONTANEITY &amp; NERNST EQUATION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C107"/>
                </a:solidFill>
              </a:rPr>
              <a:t>FREE ENERGY RELATIONSHIPS: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669280" cy="2103120"/>
          </a:xfrm>
          <a:prstGeom prst="rect">
            <a:avLst/>
          </a:prstGeom>
          <a:solidFill>
            <a:srgbClr val="0D2D5E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394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00BFD8"/>
                </a:solidFill>
              </a:rPr>
              <a:t>ΔG = −nFE°cell</a:t>
            </a:r>
          </a:p>
          <a:p>
            <a:r>
              <a:rPr sz="1450">
                <a:solidFill>
                  <a:srgbClr val="00BFD8"/>
                </a:solidFill>
              </a:rPr>
              <a:t>W_max = −nFE_cell</a:t>
            </a:r>
          </a:p>
          <a:p>
            <a:r>
              <a:rPr sz="1450">
                <a:solidFill>
                  <a:srgbClr val="00BFD8"/>
                </a:solidFill>
              </a:rPr>
              <a:t>ΔG° = −RT ln K  =  −nFE°cell</a:t>
            </a:r>
          </a:p>
          <a:p>
            <a:r>
              <a:rPr sz="1450">
                <a:solidFill>
                  <a:srgbClr val="00BFD8"/>
                </a:solidFill>
              </a:rPr>
              <a:t>E°cell = (0.0592 / n) × log K    [at 25°C]</a:t>
            </a:r>
          </a:p>
          <a:p>
            <a:r>
              <a:rPr sz="1450">
                <a:solidFill>
                  <a:srgbClr val="FFFFFF"/>
                </a:solidFill>
              </a:rPr>
              <a:t/>
            </a:r>
          </a:p>
          <a:p>
            <a:r>
              <a:rPr sz="1450">
                <a:solidFill>
                  <a:srgbClr val="FFFFFF"/>
                </a:solidFill>
              </a:rPr>
              <a:t>n = moles of electrons transferred</a:t>
            </a:r>
          </a:p>
          <a:p>
            <a:r>
              <a:rPr sz="1450">
                <a:solidFill>
                  <a:srgbClr val="FFFFFF"/>
                </a:solidFill>
              </a:rPr>
              <a:t>F = Faraday's constant = 96,500 C/mol e⁻</a:t>
            </a:r>
          </a:p>
          <a:p>
            <a:r>
              <a:rPr sz="1450">
                <a:solidFill>
                  <a:srgbClr val="FFFFFF"/>
                </a:solidFill>
              </a:rPr>
              <a:t>K = equilibrium constant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593592"/>
            <a:ext cx="5669280" cy="457200"/>
          </a:xfrm>
          <a:prstGeom prst="rect">
            <a:avLst/>
          </a:prstGeom>
          <a:solidFill>
            <a:srgbClr val="0D1F4A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63931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4CAF50"/>
                </a:solidFill>
              </a:rPr>
              <a:t>✓  E°cell &gt; 0  |  ΔG &lt; 0  →  SPONTANEOUS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096512"/>
            <a:ext cx="5669280" cy="457200"/>
          </a:xfrm>
          <a:prstGeom prst="rect">
            <a:avLst/>
          </a:prstGeom>
          <a:solidFill>
            <a:srgbClr val="0D1F4A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14223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C107"/>
                </a:solidFill>
              </a:rPr>
              <a:t>⚖  E°cell = 0  |  ΔG = 0  →  EQUILIBRIUM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599432"/>
            <a:ext cx="5669280" cy="457200"/>
          </a:xfrm>
          <a:prstGeom prst="rect">
            <a:avLst/>
          </a:prstGeom>
          <a:solidFill>
            <a:srgbClr val="0D1F4A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6451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44336"/>
                </a:solidFill>
              </a:rPr>
              <a:t>✗  E°cell &lt; 0  |  ΔG &gt; 0  →  NON-SPONTANEOUS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96012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C107"/>
                </a:solidFill>
              </a:rPr>
              <a:t>NERNST EQUATION: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5577840" cy="1051560"/>
          </a:xfrm>
          <a:prstGeom prst="rect">
            <a:avLst/>
          </a:prstGeom>
          <a:solidFill>
            <a:srgbClr val="0D47A1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417320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E = E° − (RT/nF) × ln Q
At 25°C:  E = E° − (0.0592/n) × log 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1460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Q = reaction quotient  (products/reactants)</a:t>
            </a:r>
          </a:p>
          <a:p>
            <a:r>
              <a:rPr sz="1400">
                <a:solidFill>
                  <a:srgbClr val="FFFFFF"/>
                </a:solidFill>
              </a:rPr>
              <a:t>As cell discharges: Q increases → E decreases</a:t>
            </a:r>
          </a:p>
          <a:p>
            <a:r>
              <a:rPr sz="1400">
                <a:solidFill>
                  <a:srgbClr val="FFFFFF"/>
                </a:solidFill>
              </a:rPr>
              <a:t>At equilibrium: Q = K, E = 0 (dead battery)</a:t>
            </a:r>
          </a:p>
          <a:p>
            <a:r>
              <a:rPr sz="1400">
                <a:solidFill>
                  <a:srgbClr val="FFFFFF"/>
                </a:solidFill>
              </a:rPr>
              <a:t/>
            </a:r>
          </a:p>
          <a:p>
            <a:r>
              <a:rPr sz="1400">
                <a:solidFill>
                  <a:srgbClr val="FFC107"/>
                </a:solidFill>
              </a:rPr>
              <a:t>Zn/Cu Cell Example:</a:t>
            </a:r>
          </a:p>
          <a:p>
            <a:r>
              <a:rPr sz="1400">
                <a:solidFill>
                  <a:srgbClr val="00BFD8"/>
                </a:solidFill>
              </a:rPr>
              <a:t>E = 1.10 − (0.0592/2) × log([Zn²⁺]/[Cu²⁺])</a:t>
            </a:r>
          </a:p>
          <a:p>
            <a:r>
              <a:rPr sz="1400">
                <a:solidFill>
                  <a:srgbClr val="FFFFFF"/>
                </a:solidFill>
              </a:rPr>
              <a:t/>
            </a:r>
          </a:p>
          <a:p>
            <a:r>
              <a:rPr sz="1400">
                <a:solidFill>
                  <a:srgbClr val="FFC107"/>
                </a:solidFill>
              </a:rPr>
              <a:t>Le Châtelier's Principle:</a:t>
            </a:r>
          </a:p>
          <a:p>
            <a:r>
              <a:rPr sz="1400">
                <a:solidFill>
                  <a:srgbClr val="FFFFFF"/>
                </a:solidFill>
              </a:rPr>
              <a:t>• ↑ reactant  →  ↑ E (cell voltage increases)</a:t>
            </a:r>
          </a:p>
          <a:p>
            <a:r>
              <a:rPr sz="1400">
                <a:solidFill>
                  <a:srgbClr val="FFFFFF"/>
                </a:solidFill>
              </a:rPr>
              <a:t>• ↑ product   →  ↓ E (cell voltage decreases)</a:t>
            </a:r>
          </a:p>
        </p:txBody>
      </p:sp>
      <p:pic>
        <p:nvPicPr>
          <p:cNvPr id="19" name="Picture 18" descr="page41_img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440680"/>
            <a:ext cx="557784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</a:rPr>
              <a:t>PRIMARY BATTERIES  (Non-Rechargeable)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107"/>
                </a:solidFill>
              </a:rPr>
              <a:t>① DRY CELL (Zinc-Carbon / Alkaline)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6858000" cy="960120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6675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FFFFF"/>
                </a:solidFill>
              </a:rPr>
              <a:t>• Anode: Zinc container  |  Cathode: Graphite rod  |  Electrolyte: NH₄Cl or KOH paste</a:t>
            </a:r>
          </a:p>
          <a:p>
            <a:r>
              <a:rPr sz="1350">
                <a:solidFill>
                  <a:srgbClr val="FFFFFF"/>
                </a:solidFill>
              </a:rPr>
              <a:t>• Alkaline cells last longer (zinc corrodes slower in basic conditions)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2316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107"/>
                </a:solidFill>
              </a:rPr>
              <a:t>② MERCURY BATTERY (Mercuric Oxide)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34640"/>
            <a:ext cx="6858000" cy="1051560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6675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FFFFF"/>
                </a:solidFill>
              </a:rPr>
              <a:t>• Anode: Zinc (oxidized → ZnO)  |  Cathode: HgO (reduced → elemental Hg)</a:t>
            </a:r>
          </a:p>
          <a:p>
            <a:r>
              <a:rPr sz="1350">
                <a:solidFill>
                  <a:srgbClr val="FFFFFF"/>
                </a:solidFill>
              </a:rPr>
              <a:t>• Electrolyte: NaOH or KOH (alkaline)  |  Excess HgO prevents H₂ buildup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77639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107"/>
                </a:solidFill>
              </a:rPr>
              <a:t>③ FUEL CELL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389120"/>
            <a:ext cx="6858000" cy="1463040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434840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FFFFF"/>
                </a:solidFill>
              </a:rPr>
              <a:t>• Continuous operation as long as fuel is supplied (e.g., H₂ + O₂ → H₂O + electricity)</a:t>
            </a:r>
          </a:p>
          <a:p>
            <a:r>
              <a:rPr sz="1350">
                <a:solidFill>
                  <a:srgbClr val="FFFFFF"/>
                </a:solidFill>
              </a:rPr>
              <a:t>• Anode: H₂ → 2H⁺ + 2e⁻  |  Cathode: O₂ + 4H⁺ + 4e⁻ → 2H₂O</a:t>
            </a:r>
          </a:p>
          <a:p>
            <a:r>
              <a:rPr sz="1350">
                <a:solidFill>
                  <a:srgbClr val="FFFFFF"/>
                </a:solidFill>
              </a:rPr>
              <a:t>• Efficiency: ~75% vs conventional combustion (~35%)</a:t>
            </a:r>
          </a:p>
          <a:p>
            <a:r>
              <a:rPr sz="1350">
                <a:solidFill>
                  <a:srgbClr val="FFFFFF"/>
                </a:solidFill>
              </a:rPr>
              <a:t>• Used in: Spacecraft, electric vehicles, stationary power generation</a:t>
            </a:r>
          </a:p>
        </p:txBody>
      </p:sp>
      <p:pic>
        <p:nvPicPr>
          <p:cNvPr id="15" name="Picture 14" descr="page25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960120"/>
            <a:ext cx="2194560" cy="2011680"/>
          </a:xfrm>
          <a:prstGeom prst="rect">
            <a:avLst/>
          </a:prstGeom>
        </p:spPr>
      </p:pic>
      <p:pic>
        <p:nvPicPr>
          <p:cNvPr id="16" name="Picture 15" descr="page26_img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960120"/>
            <a:ext cx="2286000" cy="2011680"/>
          </a:xfrm>
          <a:prstGeom prst="rect">
            <a:avLst/>
          </a:prstGeom>
        </p:spPr>
      </p:pic>
      <p:pic>
        <p:nvPicPr>
          <p:cNvPr id="17" name="Picture 16" descr="page28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063240"/>
            <a:ext cx="44805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</a:rPr>
              <a:t>SECONDARY BATTERIES  (Rechargeable)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107"/>
                </a:solidFill>
              </a:rPr>
              <a:t>① LEAD-ACID BATTERY (Car Battery)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943600" cy="1965960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7607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FFFFF"/>
                </a:solidFill>
              </a:rPr>
              <a:t>• Electrolyte: Dilute sulfuric acid (H₂SO₄) – acidic battery</a:t>
            </a:r>
          </a:p>
          <a:p>
            <a:r>
              <a:rPr sz="1350">
                <a:solidFill>
                  <a:srgbClr val="FFFFFF"/>
                </a:solidFill>
              </a:rPr>
              <a:t>• DISCHARGING (Galvanic): Chemical → Electrical energy</a:t>
            </a:r>
          </a:p>
          <a:p>
            <a:r>
              <a:rPr sz="1350">
                <a:solidFill>
                  <a:srgbClr val="FFFFFF"/>
                </a:solidFill>
              </a:rPr>
              <a:t>  Anode: Pb → Pb²⁺ + 2e⁻  |  Cathode: PbO₂ + 4H⁺ + 2e⁻ → Pb²⁺ + 2H₂O</a:t>
            </a:r>
          </a:p>
          <a:p>
            <a:r>
              <a:rPr sz="1350">
                <a:solidFill>
                  <a:srgbClr val="FFFFFF"/>
                </a:solidFill>
              </a:rPr>
              <a:t>• CHARGING (Electrolytic): Electrical → Chemical energy (reactions reversed)</a:t>
            </a:r>
          </a:p>
          <a:p>
            <a:r>
              <a:rPr sz="1350">
                <a:solidFill>
                  <a:srgbClr val="FFFFFF"/>
                </a:solidFill>
              </a:rPr>
              <a:t>• 6 cells in series = 12V   |   Reversible cell</a:t>
            </a:r>
          </a:p>
        </p:txBody>
      </p:sp>
      <p:pic>
        <p:nvPicPr>
          <p:cNvPr id="9" name="Picture 8" descr="page2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60120"/>
            <a:ext cx="5486400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3429000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107"/>
                </a:solidFill>
              </a:rPr>
              <a:t>② LITHIUM-ION BATTERY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840480"/>
            <a:ext cx="5943600" cy="2743200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886200"/>
            <a:ext cx="5760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FFFFF"/>
                </a:solidFill>
              </a:rPr>
              <a:t>• Why Lithium?  →  Lightest metal + most negative E° value</a:t>
            </a:r>
          </a:p>
          <a:p>
            <a:r>
              <a:rPr sz="1350">
                <a:solidFill>
                  <a:srgbClr val="FFFFFF"/>
                </a:solidFill>
              </a:rPr>
              <a:t>• Anode: Lithium graphite (LiC)</a:t>
            </a:r>
          </a:p>
          <a:p>
            <a:r>
              <a:rPr sz="1350">
                <a:solidFill>
                  <a:srgbClr val="FFFFFF"/>
                </a:solidFill>
              </a:rPr>
              <a:t>• Cathode: Lithium cobalt oxide (LiCoO₂)</a:t>
            </a:r>
          </a:p>
          <a:p>
            <a:r>
              <a:rPr sz="1350">
                <a:solidFill>
                  <a:srgbClr val="FFFFFF"/>
                </a:solidFill>
              </a:rPr>
              <a:t>• Electrolyte: Anhydrous LiPF₆ in organic solvent</a:t>
            </a:r>
          </a:p>
          <a:p>
            <a:r>
              <a:rPr sz="1350">
                <a:solidFill>
                  <a:srgbClr val="FFFFFF"/>
                </a:solidFill>
              </a:rPr>
              <a:t>• Isolator: Thin plastic layer (allows ion flow only)</a:t>
            </a:r>
          </a:p>
          <a:p>
            <a:r>
              <a:rPr sz="1350">
                <a:solidFill>
                  <a:srgbClr val="FFFFFF"/>
                </a:solidFill>
              </a:rPr>
              <a:t>• Advantages: Light, high energy density, small, rechargeable</a:t>
            </a:r>
          </a:p>
          <a:p>
            <a:r>
              <a:rPr sz="1350">
                <a:solidFill>
                  <a:srgbClr val="FFFFFF"/>
                </a:solidFill>
              </a:rPr>
              <a:t>• Applications: Mobile phones, laptops, electric vehicles</a:t>
            </a:r>
          </a:p>
        </p:txBody>
      </p:sp>
      <p:pic>
        <p:nvPicPr>
          <p:cNvPr id="13" name="Picture 12" descr="page31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429000"/>
            <a:ext cx="530352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ELECTROLYTIC CELL –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ge47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5943600" cy="5212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0" y="1005840"/>
            <a:ext cx="5577840" cy="54864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42416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BFD8"/>
                </a:solidFill>
              </a:rPr>
              <a:t>DEFINITION: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042416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Uses ELECTRICAL energy to drive a NON-SPONTANEOUS redox reaction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09344"/>
            <a:ext cx="5577840" cy="54864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4592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BFD8"/>
                </a:solidFill>
              </a:rPr>
              <a:t>ANODE (+):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4592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Connected to POSITIVE terminal → Oxidation occurs 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212848"/>
            <a:ext cx="5577840" cy="54864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49424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BFD8"/>
                </a:solidFill>
              </a:rPr>
              <a:t>CATHODE (−):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49424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Connected to NEGATIVE terminal → Reduction occurs 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816352"/>
            <a:ext cx="5577840" cy="54864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852928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BFD8"/>
                </a:solidFill>
              </a:rPr>
              <a:t>ANIONS (−):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852928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Move TOWARD anode (+) → get oxidized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419856"/>
            <a:ext cx="5577840" cy="54864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45643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BFD8"/>
                </a:solidFill>
              </a:rPr>
              <a:t>CATIONS (+):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456432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Move TOWARD cathode (−) → get reduced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023360"/>
            <a:ext cx="5577840" cy="54864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059936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BFD8"/>
                </a:solidFill>
              </a:rPr>
              <a:t>ELECTROLYTE: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059936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Aqueous salt/acid/base solution OR molten salt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626864"/>
            <a:ext cx="5577840" cy="54864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66344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BFD8"/>
                </a:solidFill>
              </a:rPr>
              <a:t>INITIATION: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66344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Voltage applied must exceed the reversible cell potential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5230368"/>
            <a:ext cx="5577840" cy="54864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5266944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BFD8"/>
                </a:solidFill>
              </a:rPr>
              <a:t>KEY LAW: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266944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Faraday's Laws → relates charge to mass deposited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ELECTROLYSIS – EXAMPLES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107"/>
                </a:solidFill>
              </a:rPr>
              <a:t>① CuCl₂  (Copper Chloride)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760720" cy="1234440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577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FFFFF"/>
                </a:solidFill>
              </a:rPr>
              <a:t>Anode (+): 2Cl⁻  →  Cl₂(g) + 2e⁻   [Oxidation]</a:t>
            </a:r>
          </a:p>
          <a:p>
            <a:r>
              <a:rPr sz="1350">
                <a:solidFill>
                  <a:srgbClr val="FFFFFF"/>
                </a:solidFill>
              </a:rPr>
              <a:t>Cathode (−): Cu²⁺ + 2e⁻  →  Cu(s)   [Reduction]</a:t>
            </a:r>
          </a:p>
          <a:p>
            <a:r>
              <a:rPr sz="1350">
                <a:solidFill>
                  <a:srgbClr val="FFFFFF"/>
                </a:solidFill>
              </a:rPr>
              <a:t>Overall: CuCl₂  →  Cu(s) + Cl₂(g)   |   E° &lt; 0 → Non-spontaneous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9748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107"/>
                </a:solidFill>
              </a:rPr>
              <a:t>② Molten NaCl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08960"/>
            <a:ext cx="5760720" cy="1005840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15468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FFFFF"/>
                </a:solidFill>
              </a:rPr>
              <a:t>Anode: 2Cl⁻  →  Cl₂(g) + 2e⁻   |   Cathode: 2Na⁺ + 2e⁻  →  2Na(l)</a:t>
            </a:r>
          </a:p>
          <a:p>
            <a:r>
              <a:rPr sz="1350">
                <a:solidFill>
                  <a:srgbClr val="FFFFFF"/>
                </a:solidFill>
              </a:rPr>
              <a:t>Products: Sodium metal (liquid) + Chlorine gas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0624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107"/>
                </a:solidFill>
              </a:rPr>
              <a:t>③ NaCl Aqueous 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617720"/>
            <a:ext cx="5760720" cy="1920240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66344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C107"/>
                </a:solidFill>
              </a:rPr>
              <a:t>CONCENTRATED NaCl:  (Cl⁻ conc. &gt; OH⁻)</a:t>
            </a:r>
          </a:p>
          <a:p>
            <a:r>
              <a:rPr sz="1250">
                <a:solidFill>
                  <a:srgbClr val="FFFFFF"/>
                </a:solidFill>
              </a:rPr>
              <a:t>  Cathode: 2H⁺ + 2e⁻ → H₂(g)  |  Anode: 2Cl⁻ → Cl₂(g) + 2e⁻</a:t>
            </a:r>
          </a:p>
          <a:p>
            <a:r>
              <a:rPr sz="1250">
                <a:solidFill>
                  <a:srgbClr val="FFFFFF"/>
                </a:solidFill>
              </a:rPr>
              <a:t>  Products: H₂ + Cl₂ + NaOH  |  pH increases</a:t>
            </a:r>
          </a:p>
          <a:p>
            <a:r>
              <a:rPr sz="1250">
                <a:solidFill>
                  <a:srgbClr val="FFFFFF"/>
                </a:solidFill>
              </a:rPr>
              <a:t/>
            </a:r>
          </a:p>
          <a:p>
            <a:r>
              <a:rPr sz="1250">
                <a:solidFill>
                  <a:srgbClr val="FFC107"/>
                </a:solidFill>
              </a:rPr>
              <a:t>DILUTE NaCl:  (OH⁻ conc. &gt; Cl⁻)</a:t>
            </a:r>
          </a:p>
          <a:p>
            <a:r>
              <a:rPr sz="1250">
                <a:solidFill>
                  <a:srgbClr val="FFFFFF"/>
                </a:solidFill>
              </a:rPr>
              <a:t>  Cathode: 4H⁺ + 4e⁻ → 2H₂(g)  |  Anode: 4OH⁻ → O₂(g) + 2H₂O</a:t>
            </a:r>
          </a:p>
          <a:p>
            <a:r>
              <a:rPr sz="1250">
                <a:solidFill>
                  <a:srgbClr val="FFFFFF"/>
                </a:solidFill>
              </a:rPr>
              <a:t>  Products: H₂ + O₂  |  pH remains constant</a:t>
            </a:r>
          </a:p>
        </p:txBody>
      </p:sp>
      <p:pic>
        <p:nvPicPr>
          <p:cNvPr id="15" name="Picture 14" descr="page49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960120"/>
            <a:ext cx="5669280" cy="3108960"/>
          </a:xfrm>
          <a:prstGeom prst="rect">
            <a:avLst/>
          </a:prstGeom>
        </p:spPr>
      </p:pic>
      <p:pic>
        <p:nvPicPr>
          <p:cNvPr id="16" name="Picture 15" descr="page50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160520"/>
            <a:ext cx="56692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</a:rPr>
              <a:t>FARADAY'S LAWS OF ELECTROLYSIS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C107"/>
                </a:solidFill>
              </a:rPr>
              <a:t>ELECTROLYSIS OF WATER: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943600" cy="1097280"/>
          </a:xfrm>
          <a:prstGeom prst="rect">
            <a:avLst/>
          </a:prstGeom>
          <a:solidFill>
            <a:srgbClr val="0D2D5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Anode: 2H₂O  →  O₂ + 4H⁺ + 4e⁻  [Oxidation]</a:t>
            </a:r>
          </a:p>
          <a:p>
            <a:r>
              <a:rPr sz="1400">
                <a:solidFill>
                  <a:srgbClr val="FFFFFF"/>
                </a:solidFill>
              </a:rPr>
              <a:t>Cathode: 4H⁺ + 4e⁻  →  2H₂  [Reduction]</a:t>
            </a:r>
          </a:p>
          <a:p>
            <a:r>
              <a:rPr sz="1400">
                <a:solidFill>
                  <a:srgbClr val="FFFFFF"/>
                </a:solidFill>
              </a:rPr>
              <a:t>Overall: 2H₂O  →  2H₂ + O₂  [Non-spontaneous → needs energy]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6032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C107"/>
                </a:solidFill>
              </a:rPr>
              <a:t>FARADAY'S FIRST LAW: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71800"/>
            <a:ext cx="5943600" cy="777240"/>
          </a:xfrm>
          <a:prstGeom prst="rect">
            <a:avLst/>
          </a:prstGeom>
          <a:solidFill>
            <a:srgbClr val="0D2D5E"/>
          </a:solidFill>
          <a:ln>
            <a:solidFill>
              <a:srgbClr val="00B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BFD8"/>
                </a:solidFill>
              </a:rPr>
              <a:t>Mass deposited ∝ Charge passed    →    m ∝ Q = I × 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048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C107"/>
                </a:solidFill>
              </a:rPr>
              <a:t>FARADAY'S SECOND LAW: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51960"/>
            <a:ext cx="5943600" cy="777240"/>
          </a:xfrm>
          <a:prstGeom prst="rect">
            <a:avLst/>
          </a:prstGeom>
          <a:solidFill>
            <a:srgbClr val="0D2D5E"/>
          </a:solidFill>
          <a:ln>
            <a:solidFill>
              <a:srgbClr val="00B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29768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BFD8"/>
                </a:solidFill>
              </a:rPr>
              <a:t>Equal charges → masses deposited ∝ equivalent weight (Mm / 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166360"/>
            <a:ext cx="5943600" cy="1371600"/>
          </a:xfrm>
          <a:prstGeom prst="rect">
            <a:avLst/>
          </a:prstGeom>
          <a:solidFill>
            <a:srgbClr val="0D47A1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212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FC107"/>
                </a:solidFill>
              </a:rPr>
              <a:t>KEY FORMULA: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623560"/>
            <a:ext cx="5669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BFD8"/>
                </a:solidFill>
              </a:rPr>
              <a:t>Q = 96,500 × V × m / Mm</a:t>
            </a:r>
          </a:p>
          <a:p>
            <a:r>
              <a:rPr sz="1400">
                <a:solidFill>
                  <a:srgbClr val="FFFFFF"/>
                </a:solidFill>
              </a:rPr>
              <a:t>Q = charge (C)  |  V = valence  |  m = mass (g)  |  Mm = molar mass</a:t>
            </a:r>
          </a:p>
          <a:p>
            <a:r>
              <a:rPr sz="1400">
                <a:solidFill>
                  <a:srgbClr val="FFFFFF"/>
                </a:solidFill>
              </a:rPr>
              <a:t>F = Faraday's constant = 96,500 C/mol e⁻</a:t>
            </a:r>
          </a:p>
          <a:p>
            <a:r>
              <a:rPr sz="1400">
                <a:solidFill>
                  <a:srgbClr val="FFFFFF"/>
                </a:solidFill>
              </a:rPr>
              <a:t>Q = I × t  (current × time)</a:t>
            </a:r>
          </a:p>
        </p:txBody>
      </p:sp>
      <p:pic>
        <p:nvPicPr>
          <p:cNvPr id="18" name="Picture 17" descr="page51_img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05840"/>
            <a:ext cx="53949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</a:rPr>
              <a:t>CORROSION – DEFINITION &amp;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7498079" cy="777240"/>
          </a:xfrm>
          <a:prstGeom prst="rect">
            <a:avLst/>
          </a:prstGeom>
          <a:solidFill>
            <a:srgbClr val="4D1000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</a:rPr>
              <a:t>DEFINITION: Gradual destruction of metals via chemical/electrochemical reactions with environment.
Returns refined metals back to their natural stable state (oxides, hydroxides, sulfides).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107"/>
                </a:solidFill>
              </a:rPr>
              <a:t>IRON CORROSION – ELECTROCHEMICAL MECHANISM: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7498079" cy="45720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68296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44336"/>
                </a:solidFill>
              </a:rPr>
              <a:t>1.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368296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Iron surface scratched/cracked; water + dissolved ions act as electrolyte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25496"/>
            <a:ext cx="7498079" cy="45720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62072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44336"/>
                </a:solidFill>
              </a:rPr>
              <a:t>2. Anode Reaction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862072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Fe  →  Fe²⁺ + 2e⁻   [Oxidation at crack/surface]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19272"/>
            <a:ext cx="7498079" cy="45720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55848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44336"/>
                </a:solidFill>
              </a:rPr>
              <a:t>3. Cathode Reaction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355848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O₂ + 2H₂O + 4e⁻  →  4OH⁻   [Reduction]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13048"/>
            <a:ext cx="7498079" cy="45720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49624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44336"/>
                </a:solidFill>
              </a:rPr>
              <a:t>4. Precipitation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849624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Fe²⁺ + 2OH⁻  →  Fe(OH)₂   [White precipitate]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06824"/>
            <a:ext cx="7498079" cy="45720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343400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44336"/>
                </a:solidFill>
              </a:rPr>
              <a:t>5. Further Oxidation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343400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Fe(OH)₂ + ½O₂ + H₂O  →  Fe(OH)₃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800600"/>
            <a:ext cx="7498079" cy="457200"/>
          </a:xfrm>
          <a:prstGeom prst="rect">
            <a:avLst/>
          </a:prstGeom>
          <a:solidFill>
            <a:srgbClr val="0D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837176"/>
            <a:ext cx="21031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44336"/>
                </a:solidFill>
              </a:rPr>
              <a:t>6. Rust Formation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837176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Rust = Fe₂O₃·nH₂O  (reddish-brown hydrated iron oxide)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49240"/>
            <a:ext cx="7498079" cy="868680"/>
          </a:xfrm>
          <a:prstGeom prst="rect">
            <a:avLst/>
          </a:prstGeom>
          <a:solidFill>
            <a:srgbClr val="0D2D5E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3949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C107"/>
                </a:solidFill>
              </a:rPr>
              <a:t>KEY FACTORS:</a:t>
            </a:r>
          </a:p>
          <a:p>
            <a:r>
              <a:rPr sz="1300">
                <a:solidFill>
                  <a:srgbClr val="FFFFFF"/>
                </a:solidFill>
              </a:rPr>
              <a:t>Moisture (essential electrolyte)  |  Salt (accelerates corrosion)  |  Dry air (NO rusting)</a:t>
            </a:r>
          </a:p>
          <a:p>
            <a:r>
              <a:rPr sz="1300">
                <a:solidFill>
                  <a:srgbClr val="FFFFFF"/>
                </a:solidFill>
              </a:rPr>
              <a:t>Impurities (create local galvanic cells)  |  Seawater (much faster than pure water)</a:t>
            </a:r>
          </a:p>
        </p:txBody>
      </p:sp>
      <p:pic>
        <p:nvPicPr>
          <p:cNvPr id="29" name="Picture 28" descr="page34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960120"/>
            <a:ext cx="3840480" cy="2926080"/>
          </a:xfrm>
          <a:prstGeom prst="rect">
            <a:avLst/>
          </a:prstGeom>
        </p:spPr>
      </p:pic>
      <p:pic>
        <p:nvPicPr>
          <p:cNvPr id="30" name="Picture 29" descr="page35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977639"/>
            <a:ext cx="38404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</a:rPr>
              <a:t>CORROSION PREVENTION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7772400" cy="621792"/>
          </a:xfrm>
          <a:prstGeom prst="rect">
            <a:avLst/>
          </a:prstGeom>
          <a:solidFill>
            <a:srgbClr val="0D1F4A"/>
          </a:solidFill>
          <a:ln>
            <a:solidFill>
              <a:srgbClr val="00B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424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FD8"/>
                </a:solidFill>
              </a:rPr>
              <a:t>PAINTING / COATING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042416"/>
            <a:ext cx="4937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Organic/mineral coating creates barrier between metal and environment (short-term)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7772400" cy="621792"/>
          </a:xfrm>
          <a:prstGeom prst="rect">
            <a:avLst/>
          </a:prstGeom>
          <a:solidFill>
            <a:srgbClr val="0D1F4A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6537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</a:rPr>
              <a:t>CATHODIC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65376"/>
            <a:ext cx="4937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Metal becomes CATHODE using less active coating (e.g., tin on iron cans). Active metal corrodes instead.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43200"/>
            <a:ext cx="7772400" cy="621792"/>
          </a:xfrm>
          <a:prstGeom prst="rect">
            <a:avLst/>
          </a:prstGeom>
          <a:solidFill>
            <a:srgbClr val="0D1F4A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7977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</a:rPr>
              <a:t>GALVANIZING (Anodic)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779776"/>
            <a:ext cx="4937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Dipping iron in molten zinc. Zinc = MORE ACTIVE metal (anode) protects base metal until consumed.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03320"/>
            <a:ext cx="7772400" cy="822960"/>
          </a:xfrm>
          <a:prstGeom prst="rect">
            <a:avLst/>
          </a:prstGeom>
          <a:solidFill>
            <a:srgbClr val="0D1F4A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398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4336"/>
                </a:solidFill>
              </a:rPr>
              <a:t>SACRIFICIAL ANODES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739896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Attach highly active metal (Zn or Mg) to structure. Active metal corrodes, base metal protected.
  Applications: Buried pipes, ship hulls (Mg/Ti bars in seawater)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937760"/>
            <a:ext cx="7772400" cy="621792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433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96F3"/>
                </a:solidFill>
              </a:rPr>
              <a:t>ALLOYING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974336"/>
            <a:ext cx="4937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Stainless steel (Fe + Cr + Ni) → Cr forms protective Cr₂O₃ oxide layer → behaves like noble metal</a:t>
            </a:r>
          </a:p>
        </p:txBody>
      </p:sp>
      <p:pic>
        <p:nvPicPr>
          <p:cNvPr id="21" name="Picture 20" descr="page37_img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960120"/>
            <a:ext cx="3474720" cy="2560320"/>
          </a:xfrm>
          <a:prstGeom prst="rect">
            <a:avLst/>
          </a:prstGeom>
        </p:spPr>
      </p:pic>
      <p:pic>
        <p:nvPicPr>
          <p:cNvPr id="22" name="Picture 21" descr="page38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3657600"/>
            <a:ext cx="34747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INDUSTRIAL APPLICATION: ALUMINUM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ge54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539496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960120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C107"/>
                </a:solidFill>
              </a:rPr>
              <a:t>HALL-HÉROULT PROCESS: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371600"/>
            <a:ext cx="6126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FFFFFF"/>
                </a:solidFill>
              </a:rPr>
              <a:t>• Aluminum: 3rd most abundant element on Earth</a:t>
            </a:r>
          </a:p>
          <a:p>
            <a:r>
              <a:rPr sz="1350">
                <a:solidFill>
                  <a:srgbClr val="FFFFFF"/>
                </a:solidFill>
              </a:rPr>
              <a:t>• Found mainly as bauxite (Al₂O₃ – aluminum oxide)</a:t>
            </a:r>
          </a:p>
          <a:p>
            <a:r>
              <a:rPr sz="1350">
                <a:solidFill>
                  <a:srgbClr val="FFFFFF"/>
                </a:solidFill>
              </a:rPr>
              <a:t>• Problem: Alumina melts at 2050°C – impractical</a:t>
            </a:r>
          </a:p>
          <a:p>
            <a:r>
              <a:rPr sz="1350">
                <a:solidFill>
                  <a:srgbClr val="FFFFFF"/>
                </a:solidFill>
              </a:rPr>
              <a:t>• Solution: Cryolite (Na₃AlF₆) lowers melting point to ~1000°C</a:t>
            </a:r>
          </a:p>
          <a:p>
            <a:r>
              <a:rPr sz="1350">
                <a:solidFill>
                  <a:srgbClr val="FFFFFF"/>
                </a:solidFill>
              </a:rPr>
              <a:t>• Large electrolytic cells lined with carbon (anode material)</a:t>
            </a:r>
          </a:p>
          <a:p>
            <a:r>
              <a:rPr sz="1350">
                <a:solidFill>
                  <a:srgbClr val="FFFFFF"/>
                </a:solidFill>
              </a:rPr>
              <a:t/>
            </a:r>
          </a:p>
          <a:p>
            <a:r>
              <a:rPr sz="1350">
                <a:solidFill>
                  <a:srgbClr val="FFC107"/>
                </a:solidFill>
              </a:rPr>
              <a:t>REACTIONS:</a:t>
            </a:r>
          </a:p>
          <a:p>
            <a:r>
              <a:rPr sz="1350">
                <a:solidFill>
                  <a:srgbClr val="00BFD8"/>
                </a:solidFill>
              </a:rPr>
              <a:t>Cathode (−): AlF₃ + 3e⁻  →  Al + 6F⁻</a:t>
            </a:r>
          </a:p>
          <a:p>
            <a:r>
              <a:rPr sz="1350">
                <a:solidFill>
                  <a:srgbClr val="00BFD8"/>
                </a:solidFill>
              </a:rPr>
              <a:t>Anode (+): 2Al₂OF + 12F⁻ + 3C  →  4AlF₃ + 3CO₂ + 4e⁻</a:t>
            </a:r>
          </a:p>
          <a:p>
            <a:r>
              <a:rPr sz="1350">
                <a:solidFill>
                  <a:srgbClr val="00BFD8"/>
                </a:solidFill>
              </a:rPr>
              <a:t>Overall: 2Al₂O₃ + 3C  →  4Al + 3CO₂</a:t>
            </a:r>
          </a:p>
          <a:p>
            <a:r>
              <a:rPr sz="1350">
                <a:solidFill>
                  <a:srgbClr val="FFFFFF"/>
                </a:solidFill>
              </a:rPr>
              <a:t/>
            </a:r>
          </a:p>
          <a:p>
            <a:r>
              <a:rPr sz="1350">
                <a:solidFill>
                  <a:srgbClr val="FFC107"/>
                </a:solidFill>
              </a:rPr>
              <a:t>Output: 99.5% pure aluminum</a:t>
            </a:r>
          </a:p>
          <a:p>
            <a:r>
              <a:rPr sz="1350">
                <a:solidFill>
                  <a:srgbClr val="FFFFFF"/>
                </a:solidFill>
              </a:rPr>
              <a:t>Alloys: + Zinc → aircraft  |  + Manganese → utensils</a:t>
            </a:r>
          </a:p>
          <a:p>
            <a:r>
              <a:rPr sz="1350">
                <a:solidFill>
                  <a:srgbClr val="FFFFFF"/>
                </a:solidFill>
              </a:rPr>
              <a:t>Cost: Consumes ~5% of total US electricity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39496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</a:rPr>
              <a:t>BAYER PROCESS (Alumina Purification):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806440"/>
            <a:ext cx="11612880" cy="777240"/>
          </a:xfrm>
          <a:prstGeom prst="rect">
            <a:avLst/>
          </a:prstGeom>
          <a:solidFill>
            <a:srgbClr val="0D2D5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85216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① Al₂O₃ + 2OH⁻ → 2AlO₂⁻ + H₂O [Dissolution]  →  ② CO₂ + AlO₂⁻ + H₂O → Al₂O₃·nH₂O [Precipitation]  →  ③ Purified alumina + cryolite → Electrolysis → Al metal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</a:rPr>
              <a:t>ELECTROPLATING &amp; ELECTROREFINING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107"/>
                </a:solidFill>
              </a:rPr>
              <a:t>① ELECTROREFINING OF COPPER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669280" cy="2103120"/>
          </a:xfrm>
          <a:prstGeom prst="rect">
            <a:avLst/>
          </a:prstGeom>
          <a:solidFill>
            <a:srgbClr val="0D1F4A"/>
          </a:solidFill>
          <a:ln>
            <a:solidFill>
              <a:srgbClr val="00B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Purpose: Purify impure copper to 99.95% purity</a:t>
            </a:r>
          </a:p>
          <a:p>
            <a:r>
              <a:rPr sz="1300">
                <a:solidFill>
                  <a:srgbClr val="FFFFFF"/>
                </a:solidFill>
              </a:rPr>
              <a:t>Anode: IMPURE copper slab (dissolves)</a:t>
            </a:r>
          </a:p>
          <a:p>
            <a:r>
              <a:rPr sz="1300">
                <a:solidFill>
                  <a:srgbClr val="FFFFFF"/>
                </a:solidFill>
              </a:rPr>
              <a:t>Cathode: PURE copper sheet (grows)</a:t>
            </a:r>
          </a:p>
          <a:p>
            <a:r>
              <a:rPr sz="1300">
                <a:solidFill>
                  <a:srgbClr val="FFFFFF"/>
                </a:solidFill>
              </a:rPr>
              <a:t>Electrolyte: CuSO₄ solution</a:t>
            </a:r>
          </a:p>
          <a:p>
            <a:r>
              <a:rPr sz="1300">
                <a:solidFill>
                  <a:srgbClr val="FFFFFF"/>
                </a:solidFill>
              </a:rPr>
              <a:t/>
            </a:r>
          </a:p>
          <a:p>
            <a:r>
              <a:rPr sz="1300">
                <a:solidFill>
                  <a:srgbClr val="00BFD8"/>
                </a:solidFill>
              </a:rPr>
              <a:t>Anode: Cu → Cu²⁺ + 2e⁻  |  Fe → Fe²⁺ + 2e⁻  |  Zn → Zn²⁺ + 2e⁻</a:t>
            </a:r>
          </a:p>
          <a:p>
            <a:r>
              <a:rPr sz="1300">
                <a:solidFill>
                  <a:srgbClr val="FFFFFF"/>
                </a:solidFill>
              </a:rPr>
              <a:t>Noble metals (Ag, Au) fall as sludge → recovered separately</a:t>
            </a:r>
          </a:p>
          <a:p>
            <a:r>
              <a:rPr sz="1300">
                <a:solidFill>
                  <a:srgbClr val="00BFD8"/>
                </a:solidFill>
              </a:rPr>
              <a:t>Cathode: Cu²⁺ + 2e⁻ → Cu  →  99.95% pure!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1188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107"/>
                </a:solidFill>
              </a:rPr>
              <a:t>② ELECTROPLATING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023360"/>
            <a:ext cx="5669280" cy="2514600"/>
          </a:xfrm>
          <a:prstGeom prst="rect">
            <a:avLst/>
          </a:prstGeom>
          <a:solidFill>
            <a:srgbClr val="0D1F4A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069080"/>
            <a:ext cx="54864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FFFFFF"/>
                </a:solidFill>
              </a:rPr>
              <a:t>Definition: Coating one metal onto another by electrolysis</a:t>
            </a:r>
          </a:p>
          <a:p>
            <a:r>
              <a:rPr sz="1250">
                <a:solidFill>
                  <a:srgbClr val="FFFFFF"/>
                </a:solidFill>
              </a:rPr>
              <a:t>Purpose: Decoration, corrosion resistance, conductivity</a:t>
            </a:r>
          </a:p>
          <a:p>
            <a:r>
              <a:rPr sz="1250">
                <a:solidFill>
                  <a:srgbClr val="FFFFFF"/>
                </a:solidFill>
              </a:rPr>
              <a:t/>
            </a:r>
          </a:p>
          <a:p>
            <a:r>
              <a:rPr sz="1250">
                <a:solidFill>
                  <a:srgbClr val="FFFFFF"/>
                </a:solidFill>
              </a:rPr>
              <a:t>Setup:  Anode = Metal to deposit  |  Cathode = Object to coat</a:t>
            </a:r>
          </a:p>
          <a:p>
            <a:r>
              <a:rPr sz="1250">
                <a:solidFill>
                  <a:srgbClr val="FFFFFF"/>
                </a:solidFill>
              </a:rPr>
              <a:t>        Electrolyte = Solution of metal salt</a:t>
            </a:r>
          </a:p>
          <a:p>
            <a:r>
              <a:rPr sz="1250">
                <a:solidFill>
                  <a:srgbClr val="FFFFFF"/>
                </a:solidFill>
              </a:rPr>
              <a:t/>
            </a:r>
          </a:p>
          <a:p>
            <a:r>
              <a:rPr sz="1250">
                <a:solidFill>
                  <a:srgbClr val="FFC107"/>
                </a:solidFill>
              </a:rPr>
              <a:t>Silver Plating Example:</a:t>
            </a:r>
          </a:p>
          <a:p>
            <a:r>
              <a:rPr sz="1250">
                <a:solidFill>
                  <a:srgbClr val="00BFD8"/>
                </a:solidFill>
              </a:rPr>
              <a:t>  Anode: Ag → Ag⁺ + e⁻   |   Cathode: Ag⁺ + e⁻ → Ag</a:t>
            </a:r>
          </a:p>
          <a:p>
            <a:r>
              <a:rPr sz="1250">
                <a:solidFill>
                  <a:srgbClr val="FFFFFF"/>
                </a:solidFill>
              </a:rPr>
              <a:t/>
            </a:r>
          </a:p>
          <a:p>
            <a:r>
              <a:rPr sz="1250">
                <a:solidFill>
                  <a:srgbClr val="FFFFFF"/>
                </a:solidFill>
              </a:rPr>
              <a:t>Applications: Jewelry, cutlery, electronics, anti-corrosion coatings</a:t>
            </a:r>
          </a:p>
        </p:txBody>
      </p:sp>
      <p:pic>
        <p:nvPicPr>
          <p:cNvPr id="12" name="Picture 11" descr="page55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60120"/>
            <a:ext cx="5669280" cy="2926080"/>
          </a:xfrm>
          <a:prstGeom prst="rect">
            <a:avLst/>
          </a:prstGeom>
        </p:spPr>
      </p:pic>
      <p:pic>
        <p:nvPicPr>
          <p:cNvPr id="13" name="Picture 12" descr="page57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023360"/>
            <a:ext cx="566928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PRIMARY vs. SECONDARY CELLS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24128"/>
            <a:ext cx="2286000" cy="484632"/>
          </a:xfrm>
          <a:prstGeom prst="rect">
            <a:avLst/>
          </a:prstGeom>
          <a:solidFill>
            <a:srgbClr val="0D47A1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6070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024128"/>
            <a:ext cx="4023360" cy="484632"/>
          </a:xfrm>
          <a:prstGeom prst="rect">
            <a:avLst/>
          </a:prstGeom>
          <a:solidFill>
            <a:srgbClr val="0D47A1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060704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</a:rPr>
              <a:t>Primary Cell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1024128"/>
            <a:ext cx="4663440" cy="484632"/>
          </a:xfrm>
          <a:prstGeom prst="rect">
            <a:avLst/>
          </a:prstGeom>
          <a:solidFill>
            <a:srgbClr val="0D47A1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06070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</a:rPr>
              <a:t>Secondary Cell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31620"/>
            <a:ext cx="2286000" cy="484632"/>
          </a:xfrm>
          <a:prstGeom prst="rect">
            <a:avLst/>
          </a:prstGeom>
          <a:solidFill>
            <a:srgbClr val="0D1F4A"/>
          </a:solidFill>
          <a:ln>
            <a:solidFill>
              <a:srgbClr val="1E4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56819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C107"/>
                </a:solidFill>
              </a:rPr>
              <a:t>Reversibility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1531620"/>
            <a:ext cx="4023360" cy="484632"/>
          </a:xfrm>
          <a:prstGeom prst="rect">
            <a:avLst/>
          </a:prstGeom>
          <a:solidFill>
            <a:srgbClr val="0D1F4A"/>
          </a:solidFill>
          <a:ln>
            <a:solidFill>
              <a:srgbClr val="1E4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1568196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Irreversible reaction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1531620"/>
            <a:ext cx="4663440" cy="484632"/>
          </a:xfrm>
          <a:prstGeom prst="rect">
            <a:avLst/>
          </a:prstGeom>
          <a:solidFill>
            <a:srgbClr val="0D1F4A"/>
          </a:solidFill>
          <a:ln>
            <a:solidFill>
              <a:srgbClr val="1E4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156819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Reversible reaction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039112"/>
            <a:ext cx="2286000" cy="484632"/>
          </a:xfrm>
          <a:prstGeom prst="rect">
            <a:avLst/>
          </a:prstGeom>
          <a:solidFill>
            <a:srgbClr val="152A5E"/>
          </a:solidFill>
          <a:ln>
            <a:solidFill>
              <a:srgbClr val="1E4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07568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C107"/>
                </a:solidFill>
              </a:rPr>
              <a:t>Rechargeable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2039112"/>
            <a:ext cx="4023360" cy="484632"/>
          </a:xfrm>
          <a:prstGeom prst="rect">
            <a:avLst/>
          </a:prstGeom>
          <a:solidFill>
            <a:srgbClr val="152A5E"/>
          </a:solidFill>
          <a:ln>
            <a:solidFill>
              <a:srgbClr val="1E4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207568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44336"/>
                </a:solidFill>
              </a:rPr>
              <a:t>NO 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2039112"/>
            <a:ext cx="4663440" cy="484632"/>
          </a:xfrm>
          <a:prstGeom prst="rect">
            <a:avLst/>
          </a:prstGeom>
          <a:solidFill>
            <a:srgbClr val="152A5E"/>
          </a:solidFill>
          <a:ln>
            <a:solidFill>
              <a:srgbClr val="1E4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0756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AF50"/>
                </a:solidFill>
              </a:rPr>
              <a:t>YES 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546604"/>
            <a:ext cx="2286000" cy="484632"/>
          </a:xfrm>
          <a:prstGeom prst="rect">
            <a:avLst/>
          </a:prstGeom>
          <a:solidFill>
            <a:srgbClr val="0D1F4A"/>
          </a:solidFill>
          <a:ln>
            <a:solidFill>
              <a:srgbClr val="1E4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5831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C107"/>
                </a:solidFill>
              </a:rPr>
              <a:t>Electrolyte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2546604"/>
            <a:ext cx="4023360" cy="484632"/>
          </a:xfrm>
          <a:prstGeom prst="rect">
            <a:avLst/>
          </a:prstGeom>
          <a:solidFill>
            <a:srgbClr val="0D1F4A"/>
          </a:solidFill>
          <a:ln>
            <a:solidFill>
              <a:srgbClr val="1E4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25831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Paste or liquid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2546604"/>
            <a:ext cx="4663440" cy="484632"/>
          </a:xfrm>
          <a:prstGeom prst="rect">
            <a:avLst/>
          </a:prstGeom>
          <a:solidFill>
            <a:srgbClr val="0D1F4A"/>
          </a:solidFill>
          <a:ln>
            <a:solidFill>
              <a:srgbClr val="1E4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25831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Usually liquid (H₂SO₄ / organic)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054096"/>
            <a:ext cx="2286000" cy="484632"/>
          </a:xfrm>
          <a:prstGeom prst="rect">
            <a:avLst/>
          </a:prstGeom>
          <a:solidFill>
            <a:srgbClr val="152A5E"/>
          </a:solidFill>
          <a:ln>
            <a:solidFill>
              <a:srgbClr val="1E4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09067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C107"/>
                </a:solidFill>
              </a:rPr>
              <a:t>Usage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7480" y="3054096"/>
            <a:ext cx="4023360" cy="484632"/>
          </a:xfrm>
          <a:prstGeom prst="rect">
            <a:avLst/>
          </a:prstGeom>
          <a:solidFill>
            <a:srgbClr val="152A5E"/>
          </a:solidFill>
          <a:ln>
            <a:solidFill>
              <a:srgbClr val="1E4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309067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Single use only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3054096"/>
            <a:ext cx="4663440" cy="484632"/>
          </a:xfrm>
          <a:prstGeom prst="rect">
            <a:avLst/>
          </a:prstGeom>
          <a:solidFill>
            <a:srgbClr val="152A5E"/>
          </a:solidFill>
          <a:ln>
            <a:solidFill>
              <a:srgbClr val="1E4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30906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Multiple recharge cycles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561588"/>
            <a:ext cx="2286000" cy="484632"/>
          </a:xfrm>
          <a:prstGeom prst="rect">
            <a:avLst/>
          </a:prstGeom>
          <a:solidFill>
            <a:srgbClr val="0D1F4A"/>
          </a:solidFill>
          <a:ln>
            <a:solidFill>
              <a:srgbClr val="1E4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59816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C107"/>
                </a:solidFill>
              </a:rPr>
              <a:t>Examples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7480" y="3561588"/>
            <a:ext cx="4023360" cy="484632"/>
          </a:xfrm>
          <a:prstGeom prst="rect">
            <a:avLst/>
          </a:prstGeom>
          <a:solidFill>
            <a:srgbClr val="0D1F4A"/>
          </a:solidFill>
          <a:ln>
            <a:solidFill>
              <a:srgbClr val="1E4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3598164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Dry cell, Mercury, Fuel cell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66560" y="3561588"/>
            <a:ext cx="4663440" cy="484632"/>
          </a:xfrm>
          <a:prstGeom prst="rect">
            <a:avLst/>
          </a:prstGeom>
          <a:solidFill>
            <a:srgbClr val="0D1F4A"/>
          </a:solidFill>
          <a:ln>
            <a:solidFill>
              <a:srgbClr val="1E4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12280" y="359816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Lead-acid, Lithium-ion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069080"/>
            <a:ext cx="2286000" cy="484632"/>
          </a:xfrm>
          <a:prstGeom prst="rect">
            <a:avLst/>
          </a:prstGeom>
          <a:solidFill>
            <a:srgbClr val="152A5E"/>
          </a:solidFill>
          <a:ln>
            <a:solidFill>
              <a:srgbClr val="1E4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10565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C107"/>
                </a:solidFill>
              </a:rPr>
              <a:t>Applications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7480" y="4069080"/>
            <a:ext cx="4023360" cy="484632"/>
          </a:xfrm>
          <a:prstGeom prst="rect">
            <a:avLst/>
          </a:prstGeom>
          <a:solidFill>
            <a:srgbClr val="152A5E"/>
          </a:solidFill>
          <a:ln>
            <a:solidFill>
              <a:srgbClr val="1E4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0" y="4105656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Flashlights, remotes, watches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66560" y="4069080"/>
            <a:ext cx="4663440" cy="484632"/>
          </a:xfrm>
          <a:prstGeom prst="rect">
            <a:avLst/>
          </a:prstGeom>
          <a:solidFill>
            <a:srgbClr val="152A5E"/>
          </a:solidFill>
          <a:ln>
            <a:solidFill>
              <a:srgbClr val="1E4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12280" y="410565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Cars, laptops, phones, EVs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576572"/>
            <a:ext cx="2286000" cy="484632"/>
          </a:xfrm>
          <a:prstGeom prst="rect">
            <a:avLst/>
          </a:prstGeom>
          <a:solidFill>
            <a:srgbClr val="0D1F4A"/>
          </a:solidFill>
          <a:ln>
            <a:solidFill>
              <a:srgbClr val="1E4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6131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C107"/>
                </a:solidFill>
              </a:rPr>
              <a:t>Environment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97480" y="4576572"/>
            <a:ext cx="4023360" cy="484632"/>
          </a:xfrm>
          <a:prstGeom prst="rect">
            <a:avLst/>
          </a:prstGeom>
          <a:solidFill>
            <a:srgbClr val="0D1F4A"/>
          </a:solidFill>
          <a:ln>
            <a:solidFill>
              <a:srgbClr val="1E4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0" y="461314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Disposal issues (Hg toxicity)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6560" y="4576572"/>
            <a:ext cx="4663440" cy="484632"/>
          </a:xfrm>
          <a:prstGeom prst="rect">
            <a:avLst/>
          </a:prstGeom>
          <a:solidFill>
            <a:srgbClr val="0D1F4A"/>
          </a:solidFill>
          <a:ln>
            <a:solidFill>
              <a:srgbClr val="1E4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12280" y="46131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Recyclable with proper handling</a:t>
            </a:r>
          </a:p>
        </p:txBody>
      </p:sp>
      <p:pic>
        <p:nvPicPr>
          <p:cNvPr id="54" name="Picture 53" descr="page32_img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577840"/>
            <a:ext cx="4114800" cy="1097280"/>
          </a:xfrm>
          <a:prstGeom prst="rect">
            <a:avLst/>
          </a:prstGeom>
        </p:spPr>
      </p:pic>
      <p:pic>
        <p:nvPicPr>
          <p:cNvPr id="55" name="Picture 54" descr="page27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5577840"/>
            <a:ext cx="70408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</a:rPr>
              <a:t>GALVANIC vs. ELECTROLYTIC CELLS – FULL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286000" cy="475488"/>
          </a:xfrm>
          <a:prstGeom prst="rect">
            <a:avLst/>
          </a:prstGeom>
          <a:solidFill>
            <a:srgbClr val="0D2D5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4241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107"/>
                </a:solidFill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005840"/>
            <a:ext cx="3931920" cy="475488"/>
          </a:xfrm>
          <a:prstGeom prst="rect">
            <a:avLst/>
          </a:prstGeom>
          <a:solidFill>
            <a:srgbClr val="0D47A1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042416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107"/>
                </a:solidFill>
              </a:rPr>
              <a:t>Galvanic Cell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005840"/>
            <a:ext cx="4846320" cy="475488"/>
          </a:xfrm>
          <a:prstGeom prst="rect">
            <a:avLst/>
          </a:prstGeom>
          <a:solidFill>
            <a:srgbClr val="1A237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04241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107"/>
                </a:solidFill>
              </a:rPr>
              <a:t>Electrolytic Cell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99616"/>
            <a:ext cx="2286000" cy="47548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53619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C107"/>
                </a:solidFill>
              </a:rPr>
              <a:t>Energy Conversion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1499616"/>
            <a:ext cx="3931920" cy="47548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1536192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96F3"/>
                </a:solidFill>
              </a:rPr>
              <a:t>Chemical → Electrical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499616"/>
            <a:ext cx="4846320" cy="47548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536192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FD8"/>
                </a:solidFill>
              </a:rPr>
              <a:t>Electrical → Chemical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993392"/>
            <a:ext cx="2286000" cy="475488"/>
          </a:xfrm>
          <a:prstGeom prst="rect">
            <a:avLst/>
          </a:prstGeom>
          <a:solidFill>
            <a:srgbClr val="152A5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02996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C107"/>
                </a:solidFill>
              </a:rPr>
              <a:t>Spontaneity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1993392"/>
            <a:ext cx="3931920" cy="475488"/>
          </a:xfrm>
          <a:prstGeom prst="rect">
            <a:avLst/>
          </a:prstGeom>
          <a:solidFill>
            <a:srgbClr val="152A5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2029968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96F3"/>
                </a:solidFill>
              </a:rPr>
              <a:t>Spontaneous (E° &gt; 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1993392"/>
            <a:ext cx="4846320" cy="475488"/>
          </a:xfrm>
          <a:prstGeom prst="rect">
            <a:avLst/>
          </a:prstGeom>
          <a:solidFill>
            <a:srgbClr val="152A5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02996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FD8"/>
                </a:solidFill>
              </a:rPr>
              <a:t>Non-spontaneous (E° &lt; 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487168"/>
            <a:ext cx="2286000" cy="47548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52374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C107"/>
                </a:solidFill>
              </a:rPr>
              <a:t>External Power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2487168"/>
            <a:ext cx="3931920" cy="47548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2523744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96F3"/>
                </a:solidFill>
              </a:rPr>
              <a:t>NOT required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487168"/>
            <a:ext cx="4846320" cy="47548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2523744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FD8"/>
                </a:solidFill>
              </a:rPr>
              <a:t>REQUIRED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980944"/>
            <a:ext cx="2286000" cy="475488"/>
          </a:xfrm>
          <a:prstGeom prst="rect">
            <a:avLst/>
          </a:prstGeom>
          <a:solidFill>
            <a:srgbClr val="152A5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01752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C107"/>
                </a:solidFill>
              </a:rPr>
              <a:t>Anode Charge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7480" y="2980944"/>
            <a:ext cx="3931920" cy="475488"/>
          </a:xfrm>
          <a:prstGeom prst="rect">
            <a:avLst/>
          </a:prstGeom>
          <a:solidFill>
            <a:srgbClr val="152A5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3017520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96F3"/>
                </a:solidFill>
              </a:rPr>
              <a:t>Negative (−)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2980944"/>
            <a:ext cx="4846320" cy="475488"/>
          </a:xfrm>
          <a:prstGeom prst="rect">
            <a:avLst/>
          </a:prstGeom>
          <a:solidFill>
            <a:srgbClr val="152A5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301752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FD8"/>
                </a:solidFill>
              </a:rPr>
              <a:t>Positive (+)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474720"/>
            <a:ext cx="2286000" cy="47548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51129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C107"/>
                </a:solidFill>
              </a:rPr>
              <a:t>Cathode Charge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7480" y="3474720"/>
            <a:ext cx="3931920" cy="47548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3511296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96F3"/>
                </a:solidFill>
              </a:rPr>
              <a:t>Positive (+)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3474720"/>
            <a:ext cx="4846320" cy="47548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0840" y="351129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FD8"/>
                </a:solidFill>
              </a:rPr>
              <a:t>Negative (−)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968496"/>
            <a:ext cx="2286000" cy="475488"/>
          </a:xfrm>
          <a:prstGeom prst="rect">
            <a:avLst/>
          </a:prstGeom>
          <a:solidFill>
            <a:srgbClr val="152A5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005072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C107"/>
                </a:solidFill>
              </a:rPr>
              <a:t>Anode Reaction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7480" y="3968496"/>
            <a:ext cx="3931920" cy="475488"/>
          </a:xfrm>
          <a:prstGeom prst="rect">
            <a:avLst/>
          </a:prstGeom>
          <a:solidFill>
            <a:srgbClr val="152A5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0" y="4005072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96F3"/>
                </a:solidFill>
              </a:rPr>
              <a:t>Oxidation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3968496"/>
            <a:ext cx="4846320" cy="475488"/>
          </a:xfrm>
          <a:prstGeom prst="rect">
            <a:avLst/>
          </a:prstGeom>
          <a:solidFill>
            <a:srgbClr val="152A5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20840" y="4005072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FD8"/>
                </a:solidFill>
              </a:rPr>
              <a:t>Oxidation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462272"/>
            <a:ext cx="2286000" cy="47548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49884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C107"/>
                </a:solidFill>
              </a:rPr>
              <a:t>Cathode Reaction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97480" y="4462272"/>
            <a:ext cx="3931920" cy="47548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0" y="4498848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96F3"/>
                </a:solidFill>
              </a:rPr>
              <a:t>Reduction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0" y="4462272"/>
            <a:ext cx="4846320" cy="47548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20840" y="449884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FD8"/>
                </a:solidFill>
              </a:rPr>
              <a:t>Reduction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956048"/>
            <a:ext cx="2286000" cy="475488"/>
          </a:xfrm>
          <a:prstGeom prst="rect">
            <a:avLst/>
          </a:prstGeom>
          <a:solidFill>
            <a:srgbClr val="152A5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99262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C107"/>
                </a:solidFill>
              </a:rPr>
              <a:t>Ion Movement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97480" y="4956048"/>
            <a:ext cx="3931920" cy="475488"/>
          </a:xfrm>
          <a:prstGeom prst="rect">
            <a:avLst/>
          </a:prstGeom>
          <a:solidFill>
            <a:srgbClr val="152A5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0" y="4992624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96F3"/>
                </a:solidFill>
              </a:rPr>
              <a:t>Anions→anode | Cations→cathode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4956048"/>
            <a:ext cx="4846320" cy="475488"/>
          </a:xfrm>
          <a:prstGeom prst="rect">
            <a:avLst/>
          </a:prstGeom>
          <a:solidFill>
            <a:srgbClr val="152A5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20840" y="4992624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FD8"/>
                </a:solidFill>
              </a:rPr>
              <a:t>Same (Anions→anode | Cations→cathode)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5449824"/>
            <a:ext cx="2286000" cy="47548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5486400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C107"/>
                </a:solidFill>
              </a:rPr>
              <a:t>Examples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97480" y="5449824"/>
            <a:ext cx="3931920" cy="47548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0" y="5486400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96F3"/>
                </a:solidFill>
              </a:rPr>
              <a:t>Batteries, fuel cells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75120" y="5449824"/>
            <a:ext cx="4846320" cy="475488"/>
          </a:xfrm>
          <a:prstGeom prst="rect">
            <a:avLst/>
          </a:prstGeom>
          <a:solidFill>
            <a:srgbClr val="0D1F4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20840" y="548640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FD8"/>
                </a:solidFill>
              </a:rPr>
              <a:t>Electroplating, Al extraction, NaCl electrolysis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5943600"/>
            <a:ext cx="2286000" cy="475488"/>
          </a:xfrm>
          <a:prstGeom prst="rect">
            <a:avLst/>
          </a:prstGeom>
          <a:solidFill>
            <a:srgbClr val="152A5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598017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C107"/>
                </a:solidFill>
              </a:rPr>
              <a:t>Key Equation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97480" y="5943600"/>
            <a:ext cx="3931920" cy="475488"/>
          </a:xfrm>
          <a:prstGeom prst="rect">
            <a:avLst/>
          </a:prstGeom>
          <a:solidFill>
            <a:srgbClr val="152A5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0" y="5980176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96F3"/>
                </a:solidFill>
              </a:rPr>
              <a:t>E°cell = E°cat − E°an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75120" y="5943600"/>
            <a:ext cx="4846320" cy="475488"/>
          </a:xfrm>
          <a:prstGeom prst="rect">
            <a:avLst/>
          </a:prstGeom>
          <a:solidFill>
            <a:srgbClr val="152A5E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20840" y="598017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FD8"/>
                </a:solidFill>
              </a:rPr>
              <a:t>Faraday: m = QMm/(nF)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612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KEY FORMULAS &amp; SUMMARY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24128"/>
            <a:ext cx="5577840" cy="749808"/>
          </a:xfrm>
          <a:prstGeom prst="rect">
            <a:avLst/>
          </a:prstGeom>
          <a:solidFill>
            <a:srgbClr val="0D2D5E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</a:rPr>
              <a:t>EMF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060704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E°cell = E°cathode − E°anode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024128"/>
            <a:ext cx="5577840" cy="749808"/>
          </a:xfrm>
          <a:prstGeom prst="rect">
            <a:avLst/>
          </a:prstGeom>
          <a:solidFill>
            <a:srgbClr val="0D2D5E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0607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</a:rPr>
              <a:t>Free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060704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ΔG = −nFE°cell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11095"/>
            <a:ext cx="5577840" cy="749808"/>
          </a:xfrm>
          <a:prstGeom prst="rect">
            <a:avLst/>
          </a:prstGeom>
          <a:solidFill>
            <a:srgbClr val="0D2D5E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4767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</a:rPr>
              <a:t>Max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47671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W_max = −nFE_cell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911095"/>
            <a:ext cx="5577840" cy="749808"/>
          </a:xfrm>
          <a:prstGeom prst="rect">
            <a:avLst/>
          </a:prstGeom>
          <a:solidFill>
            <a:srgbClr val="0D2D5E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94767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</a:rPr>
              <a:t>K &amp; E°cell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47671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E°cell = (0.0592 / n) × log 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98064"/>
            <a:ext cx="5577840" cy="749808"/>
          </a:xfrm>
          <a:prstGeom prst="rect">
            <a:avLst/>
          </a:prstGeom>
          <a:solidFill>
            <a:srgbClr val="0D2D5E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8346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</a:rPr>
              <a:t>Nernst (25°C)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283464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E = E° − (0.0592/n) × log 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798064"/>
            <a:ext cx="5577840" cy="749808"/>
          </a:xfrm>
          <a:prstGeom prst="rect">
            <a:avLst/>
          </a:prstGeom>
          <a:solidFill>
            <a:srgbClr val="0D2D5E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8346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</a:rPr>
              <a:t>Charge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834640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Q = I × 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685032"/>
            <a:ext cx="5577840" cy="749808"/>
          </a:xfrm>
          <a:prstGeom prst="rect">
            <a:avLst/>
          </a:prstGeom>
          <a:solidFill>
            <a:srgbClr val="0D2D5E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216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</a:rPr>
              <a:t>Faraday Mass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72160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m = (Q × Mm) / (n × 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3685032"/>
            <a:ext cx="5577840" cy="749808"/>
          </a:xfrm>
          <a:prstGeom prst="rect">
            <a:avLst/>
          </a:prstGeom>
          <a:solidFill>
            <a:srgbClr val="0D2D5E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7216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</a:rPr>
              <a:t>Faraday Const.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72160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F = 96,500 C/mol e⁻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663440"/>
            <a:ext cx="11612880" cy="1920240"/>
          </a:xfrm>
          <a:prstGeom prst="rect">
            <a:avLst/>
          </a:prstGeom>
          <a:solidFill>
            <a:srgbClr val="0D47A1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7091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</a:rPr>
              <a:t>SUMMARY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093208"/>
            <a:ext cx="1133856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2196F3"/>
                </a:solidFill>
              </a:rPr>
              <a:t>⚡ Galvanic Cell: SPONTANEOUS  |  Chemical → Electrical  |  Anode(−), Cathode(+)  |  E°cell &gt; 0</a:t>
            </a:r>
          </a:p>
          <a:p>
            <a:r>
              <a:rPr sz="1350">
                <a:solidFill>
                  <a:srgbClr val="00BFD8"/>
                </a:solidFill>
              </a:rPr>
              <a:t>🔌 Electrolytic Cell: NON-SPONTANEOUS  |  Electrical → Chemical  |  Anode(+), Cathode(−)  |  Needs power</a:t>
            </a:r>
          </a:p>
          <a:p>
            <a:r>
              <a:rPr sz="1350">
                <a:solidFill>
                  <a:srgbClr val="FFFFFF"/>
                </a:solidFill>
              </a:rPr>
              <a:t>⚗ Anode = OXIDATION (always)   |   ⚗ Cathode = REDUCTION (always)</a:t>
            </a:r>
          </a:p>
          <a:p>
            <a:r>
              <a:rPr sz="1350">
                <a:solidFill>
                  <a:srgbClr val="FFC107"/>
                </a:solidFill>
              </a:rPr>
              <a:t>📊 Positive E°cell → Spontaneous  |  Negative E°cell → Non-spontaneous  |  F = 96,500 C/mol</a:t>
            </a:r>
          </a:p>
          <a:p>
            <a:r>
              <a:rPr sz="1350">
                <a:solidFill>
                  <a:srgbClr val="FFFFFF"/>
                </a:solidFill>
              </a:rPr>
              <a:t>🔋 Primary = Non-rechargeable  |  Secondary = Rechargeable  |  Corrosion = Electrochemical process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